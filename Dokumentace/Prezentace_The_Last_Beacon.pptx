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Úvod" id="{f5d3f183-3159-f75d-520c-deab8e5166c4}">
          <p14:sldIdLst>
            <p14:sldId id="256"/>
          </p14:sldIdLst>
        </p14:section>
        <p14:section name="Téma" id="{c5cf524c-f143-0263-7477-7843f2ece267}">
          <p14:sldIdLst>
            <p14:sldId id="257"/>
          </p14:sldIdLst>
        </p14:section>
        <p14:section name="Rozsah" id="{8320cb91-8d3a-2732-88d1-3e387c299a28}">
          <p14:sldIdLst>
            <p14:sldId id="258"/>
          </p14:sldIdLst>
        </p14:section>
        <p14:section name="Technika" id="{ff14740a-097e-cfe5-f7ff-46f93b832859}">
          <p14:sldIdLst>
            <p14:sldId id="259"/>
          </p14:sldIdLst>
        </p14:section>
        <p14:section name="Ukázka" id="{fa44cd2b-3463-9e43-b7dc-6d65af7add38}">
          <p14:sldIdLst>
            <p14:sldId id="260"/>
          </p14:sldIdLst>
        </p14:section>
        <p14:section name="Rizika" id="{bd3e6295-c86b-0bff-d98a-d1cec35ff47f}">
          <p14:sldIdLst>
            <p14:sldId id="261"/>
          </p14:sldIdLst>
        </p14:section>
        <p14:section name="Plán" id="{0b7b9163-9155-2844-0783-cc7ed7d79a02}">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Představení. The Last Beacon je 3D hra v Unity o plavbě po nekonečném moři. Dnes vám za 7 minut ukážu: co hra je a pro koho, co je hotové, architekturu, krátké demo, rizika a licence, a plán do dubna.
⚠ POUZE PRO MĚ (nezobrazí se při promítání): Snímek ostrova má vpravo nahoře testovací „Mince: 1098809“ (cheat). Pokud to nechceš ukazovat, udělej čistý screenshot z nové hry a vyměň obrázek.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0:20–1:20  Hra je klidná: plujete, rybaříte, těžíte poklady z vraků, v majácích prodáváte a vylepšujete loď. Do toho piráti a příběh starého námořníka. Cílovka jsou hráči zhruba 12–25 let a dvojice kamarádů, protože se hraje i split-screen na jednom PC. Přínos: uvolnění, jasný cíl, žádný stres. Mým cílem je ukázat celý postup tvorby většího softwaru až po release a dokumentaci. Bariéry cílovky: výkon na slabších PC a ovládání bez tutoriálu.
⚠ POUZE PRO MĚ (nezobrazí se při promítání): V úkolu 1 máš „ztracený poklad“, ve hře je ale hlavní linka ztracený bratr (poklad je jen historický poklad). Na slidu jsem příběh nijak nerozváděl, rozhodni, co řekneš. Screenshot HUD má také cheatové mince (viz slide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1:20–2:20  MVP je hotové a kód už výrazně nerozšiřuji. Hotovo: svět, rybaření, obchody, souboje, příběh se dvěma konci, split-screen, čeština a angličtina, tři sloty pro uložení. Zbývá hlavně to okolo: dokumentace, testování, build a release, příručka. Mimo rozsah: síťový multiplayer, mobily, vlastní modely, nové velké funkce – ty jdou do backlogu. Čísla: přes 60 skriptů, zhruba 18 tisíc řádků, přes 200 commitů.
⚠ POUZE PRO MĚ (nezobrazí se při promítání): Čísla (60+ skriptů, 18 000 řádků, 200+ commitů) v úkolu 1 nejsou, přidal jsem je z repozitáře. Řádky jsou včetně komentářů. Když je nechceš, smaž tři čísla ve spodní řadě. Ve „Zbývá“ je i oprava chyb a v „Nebude“ síťový multiplayer – to je z charteru, ne z úkolu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2:20–3:20  Technologie: Unity 6, C#, Universal Render Pipeline, Git. Zdůvodnění: Unity i C# už znám, hra nepotřebuje server a běží offline. Architektura je vrstvená – nahoře rozhraní (HUD, menu, obchody), uprostřed herní logika (svět, hráč, souboje, příběh), dole stav a ukládání. Klíčové rozhodnutí: veškerý stav žije v jednom objektu GameData, který se ukládá do JSON. Místo databáze tedy model uložení hry. Svět je nekonečný, protože se generuje jen kolem hráče a moře je jedna plocha místo tisíců dlaždic – proto hra běží plynule.
⚠ POUZE PRO MĚ (nezobrazí se při promítání): Slide Architektura není v úkolu 1 (ten ho nemá), ale sylabus ho chce k 11. 11. Schéma obsahuje názvy tříd, pokud je komise nebude zajímat, stačí zmínit čtyři body vpravo.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3:20–4:50  Živé demo (nebo záznam, kdyby nešel projektor). Postup: 1) plavba a rybaření – ukázat svět a minimapu, 2) vstup do majáku, prodej a nákup vylepšení, 3) krátký souboj s pirátskou lodí, 4) zapnout split-screen. Záložní plán: nahrané video 60–90 s a snímky na slidu.
⚠ POUZE PRO MĚ (nezobrazí se při promítání): Malé snímky pod hlavním obrázkem (obchod, menu) jsou jen ilustrační; obchod má taky cheatové mince. V úkolu 1 ukázka hry není, je to sylabem požadované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4:50–5:50  Největší riziko je čas: dokumentace zabere víc, než čekám, proto nové funkce zmrazuji. Výkon: generování světa a ukládání jsem už zrychlil. Data: kód je na GitHubu a save se zapisuje přes dočasný soubor, aby se nepoškodil. Autorská práva: modely jsou CC0 od Kenney a Quaternius, zvuky jsem vygeneroval sám, vlastní kód pod MIT. Hra neshromažďuje osobní údaje. Hra nepotřebuje žádný server ani cizí službu.
⚠ POUZE PRO MĚ (nezobrazí se při promítání): Z původní verze slidu jsem sem přesunul: 1) riziko „ztráta dat“ (kód na GitHubu, bezpečný zápis savu přes dočasný soubor), 2) zvuky jsou vlastní, generované kódem, 3) hra neshromažďuje osobní údaje, 4) při vývoji jsi používal AI asistenta (Claude Code) – je to uvedeno v ročníkové práci, kap. 6.4. Doporučuji to s vedoucí vyjasnit a umět vysvětlit každou část kódu, protože se komise může zeptat. Licence MIT: v úkolu 1 je jen „výběr licence“, v repozitáři LICENSE už MIT 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5:50–7:00  Business: hra zůstane zdarma, případně na itch.io jako portfolio; komunitní přesah přes krátká videa a sdílení zajímavých ostrovů; kód open-source pod MIT. Plán: 11. 11. charter a architektura, 9. 12. osnova dokumentace a licence, 20. 1. datový model, use cases a wireframy, 3. 3. úklid kódu a draft kapitol, 31. 3. testovací build a kompletní draft, 14. 4. finální release a obhajoba. Závěr: děkuji, dotazy.
⚠ POUZE PRO MĚ (nezobrazí se při promítání): Business část (zdarma / itch.io / komunita / open-source) je z charteru, v úkolu 1 není. Časová osa odpovídá úkolu 1: říjen–listopad charter a architektura, prosinec–leden osnova + datový model / use cases / wireframy, únor–březen úklid kódu a testovací build, duben release. Úkol 1 má v říjnu–listopadu i opravu bugů.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NI">
    <p:bg>
      <p:bgPr>
        <a:solidFill>
          <a:srgbClr val="0B2A4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BSAH">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ucerna"/>
          <p:cNvSpPr/>
          <p:nvPr/>
        </p:nvSpPr>
        <p:spPr>
          <a:xfrm>
            <a:off x="457200" y="502920"/>
            <a:ext cx="256032" cy="256032"/>
          </a:xfrm>
          <a:prstGeom prst="ellipse">
            <a:avLst/>
          </a:prstGeom>
          <a:solidFill>
            <a:schemeClr val="accent1"/>
          </a:solidFill>
          <a:ln w="12700">
            <a:solidFill>
              <a:schemeClr val="accent1"/>
            </a:solidFill>
            <a:prstDash val="solid"/>
          </a:ln>
        </p:spPr>
      </p:sp>
      <p:sp>
        <p:nvSpPr>
          <p:cNvPr id="3" name="Titulek"/>
          <p:cNvSpPr txBox="1"/>
          <p:nvPr/>
        </p:nvSpPr>
        <p:spPr>
          <a:xfrm>
            <a:off x="457200" y="1005840"/>
            <a:ext cx="4114800" cy="91440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The Last Beacon</a:t>
            </a:r>
            <a:endParaRPr lang="en-US" sz="3600" dirty="0"/>
          </a:p>
        </p:txBody>
      </p:sp>
      <p:sp>
        <p:nvSpPr>
          <p:cNvPr id="4" name="Podtitulek"/>
          <p:cNvSpPr txBox="1"/>
          <p:nvPr/>
        </p:nvSpPr>
        <p:spPr>
          <a:xfrm>
            <a:off x="457200" y="1965960"/>
            <a:ext cx="3931920" cy="822960"/>
          </a:xfrm>
          <a:prstGeom prst="rect">
            <a:avLst/>
          </a:prstGeom>
          <a:noFill/>
          <a:ln/>
        </p:spPr>
        <p:txBody>
          <a:bodyPr wrap="square" lIns="0" tIns="0" rIns="0" bIns="0" rtlCol="0" anchor="t"/>
          <a:lstStyle/>
          <a:p>
            <a:pPr indent="0" marL="0">
              <a:buNone/>
            </a:pPr>
            <a:r>
              <a:rPr lang="en-US" sz="2000" dirty="0">
                <a:solidFill>
                  <a:schemeClr val="bg2"/>
                </a:solidFill>
              </a:rPr>
              <a:t>3D hra o plavbě po nekonečném moři</a:t>
            </a:r>
            <a:endParaRPr lang="en-US" sz="2000" dirty="0"/>
          </a:p>
        </p:txBody>
      </p:sp>
      <p:sp>
        <p:nvSpPr>
          <p:cNvPr id="5" name="Autor"/>
          <p:cNvSpPr txBox="1"/>
          <p:nvPr/>
        </p:nvSpPr>
        <p:spPr>
          <a:xfrm>
            <a:off x="457200" y="3566160"/>
            <a:ext cx="3931920" cy="1005840"/>
          </a:xfrm>
          <a:prstGeom prst="rect">
            <a:avLst/>
          </a:prstGeom>
          <a:noFill/>
          <a:ln/>
        </p:spPr>
        <p:txBody>
          <a:bodyPr wrap="square" lIns="0" tIns="0" rIns="0" bIns="0" rtlCol="0" anchor="t"/>
          <a:lstStyle/>
          <a:p>
            <a:pPr indent="0" marL="0">
              <a:buNone/>
            </a:pPr>
            <a:r>
              <a:rPr lang="en-US" sz="1400" b="1" dirty="0">
                <a:solidFill>
                  <a:schemeClr val="bg2"/>
                </a:solidFill>
              </a:rPr>
              <a:t>Martin Štěpánek</a:t>
            </a:r>
            <a:endParaRPr lang="en-US" sz="1400" dirty="0"/>
          </a:p>
          <a:p>
            <a:pPr indent="0" marL="0">
              <a:buNone/>
            </a:pPr>
            <a:r>
              <a:rPr lang="en-US" sz="1400" dirty="0">
                <a:solidFill>
                  <a:schemeClr val="bg2"/>
                </a:solidFill>
              </a:rPr>
              <a:t>IT projekt, 4. ročník</a:t>
            </a:r>
            <a:endParaRPr lang="en-US" sz="1400" dirty="0"/>
          </a:p>
          <a:p>
            <a:pPr indent="0" marL="0">
              <a:buNone/>
            </a:pPr>
            <a:r>
              <a:rPr lang="en-US" sz="1400" dirty="0">
                <a:solidFill>
                  <a:schemeClr val="bg2"/>
                </a:solidFill>
              </a:rPr>
              <a:t>Čtvrtletní prezentace, 11. 11. 2026</a:t>
            </a:r>
            <a:endParaRPr lang="en-US" sz="1400" dirty="0"/>
          </a:p>
        </p:txBody>
      </p:sp>
      <p:pic>
        <p:nvPicPr>
          <p:cNvPr id="6" name="Snímek ostrova" descr="Ostrov s majákem ve hře">    </p:cNvPr>
          <p:cNvPicPr>
            <a:picLocks noChangeAspect="1"/>
          </p:cNvPicPr>
          <p:nvPr/>
        </p:nvPicPr>
        <p:blipFill>
          <a:blip r:embed="rId1"/>
          <a:stretch>
            <a:fillRect/>
          </a:stretch>
        </p:blipFill>
        <p:spPr>
          <a:xfrm>
            <a:off x="4663440" y="1325880"/>
            <a:ext cx="4023360" cy="1920240"/>
          </a:xfrm>
          <a:prstGeom prst="rect">
            <a:avLst/>
          </a:prstGeom>
        </p:spPr>
      </p:pic>
      <p:sp>
        <p:nvSpPr>
          <p:cNvPr id="7" name="Stack"/>
          <p:cNvSpPr txBox="1"/>
          <p:nvPr/>
        </p:nvSpPr>
        <p:spPr>
          <a:xfrm>
            <a:off x="4663440" y="3383280"/>
            <a:ext cx="4023360" cy="365760"/>
          </a:xfrm>
          <a:prstGeom prst="rect">
            <a:avLst/>
          </a:prstGeom>
          <a:noFill/>
          <a:ln/>
        </p:spPr>
        <p:txBody>
          <a:bodyPr wrap="square" lIns="0" tIns="0" rIns="0" bIns="0" rtlCol="0" anchor="ctr"/>
          <a:lstStyle/>
          <a:p>
            <a:pPr algn="l" indent="0" marL="0">
              <a:buNone/>
            </a:pPr>
            <a:r>
              <a:rPr lang="en-US" sz="1400" dirty="0">
                <a:solidFill>
                  <a:schemeClr val="accent1"/>
                </a:solidFill>
              </a:rPr>
              <a:t>Unity 6 · C# · offline · 1–2 hráči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Co to je a pro koho</a:t>
            </a:r>
            <a:endParaRPr lang="en-US" sz="3400" dirty="0"/>
          </a:p>
        </p:txBody>
      </p:sp>
      <p:sp>
        <p:nvSpPr>
          <p:cNvPr id="3" name="Nadpis 1"/>
          <p:cNvSpPr txBox="1"/>
          <p:nvPr/>
        </p:nvSpPr>
        <p:spPr>
          <a:xfrm>
            <a:off x="457200" y="1234440"/>
            <a:ext cx="4114800" cy="292608"/>
          </a:xfrm>
          <a:prstGeom prst="rect">
            <a:avLst/>
          </a:prstGeom>
          <a:noFill/>
          <a:ln/>
        </p:spPr>
        <p:txBody>
          <a:bodyPr wrap="square" lIns="0" tIns="0" rIns="0" bIns="0" rtlCol="0" anchor="ctr"/>
          <a:lstStyle/>
          <a:p>
            <a:pPr indent="0" marL="0">
              <a:buNone/>
            </a:pPr>
            <a:r>
              <a:rPr lang="en-US" sz="1600" b="1" dirty="0">
                <a:solidFill>
                  <a:schemeClr val="accent2"/>
                </a:solidFill>
              </a:rPr>
              <a:t>Co to je</a:t>
            </a:r>
            <a:endParaRPr lang="en-US" sz="1600" dirty="0"/>
          </a:p>
        </p:txBody>
      </p:sp>
      <p:sp>
        <p:nvSpPr>
          <p:cNvPr id="4" name="Text 1"/>
          <p:cNvSpPr txBox="1"/>
          <p:nvPr/>
        </p:nvSpPr>
        <p:spPr>
          <a:xfrm>
            <a:off x="457200" y="1545336"/>
            <a:ext cx="4114800" cy="777240"/>
          </a:xfrm>
          <a:prstGeom prst="rect">
            <a:avLst/>
          </a:prstGeom>
          <a:noFill/>
          <a:ln/>
        </p:spPr>
        <p:txBody>
          <a:bodyPr wrap="square" lIns="0" tIns="0" rIns="0" bIns="0" rtlCol="0" anchor="t"/>
          <a:lstStyle/>
          <a:p>
            <a:pPr indent="0" marL="0">
              <a:buNone/>
            </a:pPr>
            <a:r>
              <a:rPr lang="en-US" sz="1400" dirty="0">
                <a:solidFill>
                  <a:schemeClr val="tx1"/>
                </a:solidFill>
              </a:rPr>
              <a:t>Plavba po nekonečném moři: rybaření, poklady z vraků, obchod v majácích, souboje s piráty a příběh.</a:t>
            </a:r>
            <a:endParaRPr lang="en-US" sz="1400" dirty="0"/>
          </a:p>
        </p:txBody>
      </p:sp>
      <p:sp>
        <p:nvSpPr>
          <p:cNvPr id="5" name="Nadpis 2"/>
          <p:cNvSpPr txBox="1"/>
          <p:nvPr/>
        </p:nvSpPr>
        <p:spPr>
          <a:xfrm>
            <a:off x="457200" y="2404872"/>
            <a:ext cx="4114800" cy="292608"/>
          </a:xfrm>
          <a:prstGeom prst="rect">
            <a:avLst/>
          </a:prstGeom>
          <a:noFill/>
          <a:ln/>
        </p:spPr>
        <p:txBody>
          <a:bodyPr wrap="square" lIns="0" tIns="0" rIns="0" bIns="0" rtlCol="0" anchor="ctr"/>
          <a:lstStyle/>
          <a:p>
            <a:pPr indent="0" marL="0">
              <a:buNone/>
            </a:pPr>
            <a:r>
              <a:rPr lang="en-US" sz="1600" b="1" dirty="0">
                <a:solidFill>
                  <a:schemeClr val="accent2"/>
                </a:solidFill>
              </a:rPr>
              <a:t>Pro koho</a:t>
            </a:r>
            <a:endParaRPr lang="en-US" sz="1600" dirty="0"/>
          </a:p>
        </p:txBody>
      </p:sp>
      <p:sp>
        <p:nvSpPr>
          <p:cNvPr id="6" name="Text 2"/>
          <p:cNvSpPr txBox="1"/>
          <p:nvPr/>
        </p:nvSpPr>
        <p:spPr>
          <a:xfrm>
            <a:off x="457200" y="2715768"/>
            <a:ext cx="4114800" cy="777240"/>
          </a:xfrm>
          <a:prstGeom prst="rect">
            <a:avLst/>
          </a:prstGeom>
          <a:noFill/>
          <a:ln/>
        </p:spPr>
        <p:txBody>
          <a:bodyPr wrap="square" lIns="0" tIns="0" rIns="0" bIns="0" rtlCol="0" anchor="t"/>
          <a:lstStyle/>
          <a:p>
            <a:pPr indent="0" marL="0">
              <a:buNone/>
            </a:pPr>
            <a:r>
              <a:rPr lang="en-US" sz="1400" dirty="0">
                <a:solidFill>
                  <a:schemeClr val="tx1"/>
                </a:solidFill>
              </a:rPr>
              <a:t>Hráči kolem 12–25 let, kteří chtějí klidnou hru, a dva kamarádi na jednom PC.</a:t>
            </a:r>
            <a:endParaRPr lang="en-US" sz="1400" dirty="0"/>
          </a:p>
        </p:txBody>
      </p:sp>
      <p:sp>
        <p:nvSpPr>
          <p:cNvPr id="7" name="Nadpis 3"/>
          <p:cNvSpPr txBox="1"/>
          <p:nvPr/>
        </p:nvSpPr>
        <p:spPr>
          <a:xfrm>
            <a:off x="457200" y="3575304"/>
            <a:ext cx="4114800" cy="292608"/>
          </a:xfrm>
          <a:prstGeom prst="rect">
            <a:avLst/>
          </a:prstGeom>
          <a:noFill/>
          <a:ln/>
        </p:spPr>
        <p:txBody>
          <a:bodyPr wrap="square" lIns="0" tIns="0" rIns="0" bIns="0" rtlCol="0" anchor="ctr"/>
          <a:lstStyle/>
          <a:p>
            <a:pPr indent="0" marL="0">
              <a:buNone/>
            </a:pPr>
            <a:r>
              <a:rPr lang="en-US" sz="1600" b="1" dirty="0">
                <a:solidFill>
                  <a:schemeClr val="accent2"/>
                </a:solidFill>
              </a:rPr>
              <a:t>Co přinese</a:t>
            </a:r>
            <a:endParaRPr lang="en-US" sz="1600" dirty="0"/>
          </a:p>
        </p:txBody>
      </p:sp>
      <p:sp>
        <p:nvSpPr>
          <p:cNvPr id="8" name="Text 3"/>
          <p:cNvSpPr txBox="1"/>
          <p:nvPr/>
        </p:nvSpPr>
        <p:spPr>
          <a:xfrm>
            <a:off x="457200" y="3886200"/>
            <a:ext cx="4114800" cy="777240"/>
          </a:xfrm>
          <a:prstGeom prst="rect">
            <a:avLst/>
          </a:prstGeom>
          <a:noFill/>
          <a:ln/>
        </p:spPr>
        <p:txBody>
          <a:bodyPr wrap="square" lIns="0" tIns="0" rIns="0" bIns="0" rtlCol="0" anchor="t"/>
          <a:lstStyle/>
          <a:p>
            <a:pPr indent="0" marL="0">
              <a:buNone/>
            </a:pPr>
            <a:r>
              <a:rPr lang="en-US" sz="1400" dirty="0">
                <a:solidFill>
                  <a:schemeClr val="tx1"/>
                </a:solidFill>
              </a:rPr>
              <a:t>Uvolnění, jasný cíl (lepší loď) a příběh. Bez registrace a bez internetu.</a:t>
            </a:r>
            <a:endParaRPr lang="en-US" sz="1400" dirty="0"/>
          </a:p>
        </p:txBody>
      </p:sp>
      <p:pic>
        <p:nvPicPr>
          <p:cNvPr id="9" name="Snímek HUD" descr="Rozhraní hry: minimapa, zdraví a hotbar">    </p:cNvPr>
          <p:cNvPicPr>
            <a:picLocks noChangeAspect="1"/>
          </p:cNvPicPr>
          <p:nvPr/>
        </p:nvPicPr>
        <p:blipFill>
          <a:blip r:embed="rId1"/>
          <a:stretch>
            <a:fillRect/>
          </a:stretch>
        </p:blipFill>
        <p:spPr>
          <a:xfrm>
            <a:off x="4937760" y="1234440"/>
            <a:ext cx="3749040" cy="1792224"/>
          </a:xfrm>
          <a:prstGeom prst="rect">
            <a:avLst/>
          </a:prstGeom>
        </p:spPr>
      </p:pic>
      <p:sp>
        <p:nvSpPr>
          <p:cNvPr id="10" name="Karta cíle"/>
          <p:cNvSpPr/>
          <p:nvPr/>
        </p:nvSpPr>
        <p:spPr>
          <a:xfrm>
            <a:off x="4937760" y="3246120"/>
            <a:ext cx="3749040" cy="1188720"/>
          </a:xfrm>
          <a:prstGeom prst="roundRect">
            <a:avLst>
              <a:gd name="adj" fmla="val 9231"/>
            </a:avLst>
          </a:prstGeom>
          <a:solidFill>
            <a:schemeClr val="bg2"/>
          </a:solidFill>
          <a:ln w="12700">
            <a:solidFill>
              <a:schemeClr val="bg2"/>
            </a:solidFill>
            <a:prstDash val="solid"/>
          </a:ln>
        </p:spPr>
      </p:sp>
      <p:sp>
        <p:nvSpPr>
          <p:cNvPr id="11" name="Cíl práce"/>
          <p:cNvSpPr txBox="1"/>
          <p:nvPr/>
        </p:nvSpPr>
        <p:spPr>
          <a:xfrm>
            <a:off x="5120640" y="3291840"/>
            <a:ext cx="3383280" cy="1097280"/>
          </a:xfrm>
          <a:prstGeom prst="rect">
            <a:avLst/>
          </a:prstGeom>
          <a:noFill/>
          <a:ln/>
        </p:spPr>
        <p:txBody>
          <a:bodyPr wrap="square" lIns="0" tIns="0" rIns="0" bIns="0" rtlCol="0" anchor="ctr"/>
          <a:lstStyle/>
          <a:p>
            <a:pPr indent="0" marL="0">
              <a:buNone/>
            </a:pPr>
            <a:r>
              <a:rPr lang="en-US" sz="1400" b="1" dirty="0">
                <a:solidFill>
                  <a:schemeClr val="accent2"/>
                </a:solidFill>
              </a:rPr>
              <a:t>Cíl práce</a:t>
            </a:r>
            <a:endParaRPr lang="en-US" sz="1400" dirty="0"/>
          </a:p>
          <a:p>
            <a:pPr indent="0" marL="0">
              <a:buNone/>
            </a:pPr>
            <a:r>
              <a:rPr lang="en-US" sz="1400" dirty="0">
                <a:solidFill>
                  <a:schemeClr val="tx1"/>
                </a:solidFill>
              </a:rPr>
              <a:t>Hratelný build, kód na GitHubu a kompletní dokumentace do 14. 4. 2027.</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Rozsah: hotovo a zbývá</a:t>
            </a:r>
            <a:endParaRPr lang="en-US" sz="3400" dirty="0"/>
          </a:p>
        </p:txBody>
      </p:sp>
      <p:sp>
        <p:nvSpPr>
          <p:cNvPr id="3" name="Karta Hotovo"/>
          <p:cNvSpPr/>
          <p:nvPr/>
        </p:nvSpPr>
        <p:spPr>
          <a:xfrm>
            <a:off x="457200" y="1188720"/>
            <a:ext cx="2615184" cy="2514600"/>
          </a:xfrm>
          <a:prstGeom prst="roundRect">
            <a:avLst>
              <a:gd name="adj" fmla="val 4364"/>
            </a:avLst>
          </a:prstGeom>
          <a:solidFill>
            <a:schemeClr val="bg2"/>
          </a:solidFill>
          <a:ln w="12700">
            <a:solidFill>
              <a:schemeClr val="bg2"/>
            </a:solidFill>
            <a:prstDash val="solid"/>
          </a:ln>
        </p:spPr>
      </p:sp>
      <p:sp>
        <p:nvSpPr>
          <p:cNvPr id="4" name="Tečka Hotovo"/>
          <p:cNvSpPr/>
          <p:nvPr/>
        </p:nvSpPr>
        <p:spPr>
          <a:xfrm>
            <a:off x="640080" y="1371600"/>
            <a:ext cx="237744" cy="237744"/>
          </a:xfrm>
          <a:prstGeom prst="ellipse">
            <a:avLst/>
          </a:prstGeom>
          <a:solidFill>
            <a:schemeClr val="accent3"/>
          </a:solidFill>
          <a:ln w="12700">
            <a:solidFill>
              <a:schemeClr val="accent3"/>
            </a:solidFill>
            <a:prstDash val="solid"/>
          </a:ln>
        </p:spPr>
      </p:sp>
      <p:sp>
        <p:nvSpPr>
          <p:cNvPr id="5" name="Nadpis Hotovo"/>
          <p:cNvSpPr txBox="1"/>
          <p:nvPr/>
        </p:nvSpPr>
        <p:spPr>
          <a:xfrm>
            <a:off x="987552" y="1298448"/>
            <a:ext cx="1920240" cy="384048"/>
          </a:xfrm>
          <a:prstGeom prst="rect">
            <a:avLst/>
          </a:prstGeom>
          <a:noFill/>
          <a:ln/>
        </p:spPr>
        <p:txBody>
          <a:bodyPr wrap="square" lIns="0" tIns="0" rIns="0" bIns="0" rtlCol="0" anchor="ctr"/>
          <a:lstStyle/>
          <a:p>
            <a:pPr indent="0" marL="0">
              <a:buNone/>
            </a:pPr>
            <a:r>
              <a:rPr lang="en-US" sz="1800" b="1" dirty="0">
                <a:solidFill>
                  <a:schemeClr val="tx1"/>
                </a:solidFill>
              </a:rPr>
              <a:t>Hotovo</a:t>
            </a:r>
            <a:endParaRPr lang="en-US" sz="1800" dirty="0"/>
          </a:p>
        </p:txBody>
      </p:sp>
      <p:sp>
        <p:nvSpPr>
          <p:cNvPr id="6" name="Seznam Hotovo"/>
          <p:cNvSpPr txBox="1"/>
          <p:nvPr/>
        </p:nvSpPr>
        <p:spPr>
          <a:xfrm>
            <a:off x="640080" y="17830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Nekonečný svět, ostrovy a majáky</a:t>
            </a:r>
            <a:endParaRPr lang="en-US" sz="1400" dirty="0"/>
          </a:p>
          <a:p>
            <a:pPr marL="342900" indent="-342900">
              <a:spcAft>
                <a:spcPts val="400"/>
              </a:spcAft>
              <a:buSzPct val="100000"/>
              <a:buChar char="•"/>
            </a:pPr>
            <a:r>
              <a:rPr lang="en-US" sz="1400" dirty="0">
                <a:solidFill>
                  <a:schemeClr val="tx1"/>
                </a:solidFill>
              </a:rPr>
              <a:t>Rybaření, těžba, obchody</a:t>
            </a:r>
            <a:endParaRPr lang="en-US" sz="1400" dirty="0"/>
          </a:p>
          <a:p>
            <a:pPr marL="342900" indent="-342900">
              <a:spcAft>
                <a:spcPts val="400"/>
              </a:spcAft>
              <a:buSzPct val="100000"/>
              <a:buChar char="•"/>
            </a:pPr>
            <a:r>
              <a:rPr lang="en-US" sz="1400" dirty="0">
                <a:solidFill>
                  <a:schemeClr val="tx1"/>
                </a:solidFill>
              </a:rPr>
              <a:t>Souboje s piráty a ostrovy</a:t>
            </a:r>
            <a:endParaRPr lang="en-US" sz="1400" dirty="0"/>
          </a:p>
          <a:p>
            <a:pPr marL="342900" indent="-342900">
              <a:spcAft>
                <a:spcPts val="400"/>
              </a:spcAft>
              <a:buSzPct val="100000"/>
              <a:buChar char="•"/>
            </a:pPr>
            <a:r>
              <a:rPr lang="en-US" sz="1400" dirty="0">
                <a:solidFill>
                  <a:schemeClr val="tx1"/>
                </a:solidFill>
              </a:rPr>
              <a:t>Příběh se dvěma konci</a:t>
            </a:r>
            <a:endParaRPr lang="en-US" sz="1400" dirty="0"/>
          </a:p>
          <a:p>
            <a:pPr marL="342900" indent="-342900">
              <a:spcAft>
                <a:spcPts val="400"/>
              </a:spcAft>
              <a:buSzPct val="100000"/>
              <a:buChar char="•"/>
            </a:pPr>
            <a:r>
              <a:rPr lang="en-US" sz="1400" dirty="0">
                <a:solidFill>
                  <a:schemeClr val="tx1"/>
                </a:solidFill>
              </a:rPr>
              <a:t>Split-screen, CZ/EN, 3 sloty</a:t>
            </a:r>
            <a:endParaRPr lang="en-US" sz="1400" dirty="0"/>
          </a:p>
        </p:txBody>
      </p:sp>
      <p:sp>
        <p:nvSpPr>
          <p:cNvPr id="7" name="Karta Zbývá"/>
          <p:cNvSpPr/>
          <p:nvPr/>
        </p:nvSpPr>
        <p:spPr>
          <a:xfrm>
            <a:off x="3264408" y="1188720"/>
            <a:ext cx="2615184" cy="2514600"/>
          </a:xfrm>
          <a:prstGeom prst="roundRect">
            <a:avLst>
              <a:gd name="adj" fmla="val 4364"/>
            </a:avLst>
          </a:prstGeom>
          <a:solidFill>
            <a:schemeClr val="bg2"/>
          </a:solidFill>
          <a:ln w="12700">
            <a:solidFill>
              <a:schemeClr val="bg2"/>
            </a:solidFill>
            <a:prstDash val="solid"/>
          </a:ln>
        </p:spPr>
      </p:sp>
      <p:sp>
        <p:nvSpPr>
          <p:cNvPr id="8" name="Tečka Zbývá"/>
          <p:cNvSpPr/>
          <p:nvPr/>
        </p:nvSpPr>
        <p:spPr>
          <a:xfrm>
            <a:off x="3447288" y="1371600"/>
            <a:ext cx="237744" cy="237744"/>
          </a:xfrm>
          <a:prstGeom prst="ellipse">
            <a:avLst/>
          </a:prstGeom>
          <a:solidFill>
            <a:schemeClr val="accent1"/>
          </a:solidFill>
          <a:ln w="12700">
            <a:solidFill>
              <a:schemeClr val="accent1"/>
            </a:solidFill>
            <a:prstDash val="solid"/>
          </a:ln>
        </p:spPr>
      </p:sp>
      <p:sp>
        <p:nvSpPr>
          <p:cNvPr id="9" name="Nadpis Zbývá"/>
          <p:cNvSpPr txBox="1"/>
          <p:nvPr/>
        </p:nvSpPr>
        <p:spPr>
          <a:xfrm>
            <a:off x="3794760" y="1298448"/>
            <a:ext cx="1920240" cy="384048"/>
          </a:xfrm>
          <a:prstGeom prst="rect">
            <a:avLst/>
          </a:prstGeom>
          <a:noFill/>
          <a:ln/>
        </p:spPr>
        <p:txBody>
          <a:bodyPr wrap="square" lIns="0" tIns="0" rIns="0" bIns="0" rtlCol="0" anchor="ctr"/>
          <a:lstStyle/>
          <a:p>
            <a:pPr indent="0" marL="0">
              <a:buNone/>
            </a:pPr>
            <a:r>
              <a:rPr lang="en-US" sz="1800" b="1" dirty="0">
                <a:solidFill>
                  <a:schemeClr val="tx1"/>
                </a:solidFill>
              </a:rPr>
              <a:t>Zbývá</a:t>
            </a:r>
            <a:endParaRPr lang="en-US" sz="1800" dirty="0"/>
          </a:p>
        </p:txBody>
      </p:sp>
      <p:sp>
        <p:nvSpPr>
          <p:cNvPr id="10" name="Seznam Zbývá"/>
          <p:cNvSpPr txBox="1"/>
          <p:nvPr/>
        </p:nvSpPr>
        <p:spPr>
          <a:xfrm>
            <a:off x="3447288" y="17830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Dokumentace a obhajoba</a:t>
            </a:r>
            <a:endParaRPr lang="en-US" sz="1400" dirty="0"/>
          </a:p>
          <a:p>
            <a:pPr marL="342900" indent="-342900">
              <a:spcAft>
                <a:spcPts val="400"/>
              </a:spcAft>
              <a:buSzPct val="100000"/>
              <a:buChar char="•"/>
            </a:pPr>
            <a:r>
              <a:rPr lang="en-US" sz="1400" dirty="0">
                <a:solidFill>
                  <a:schemeClr val="tx1"/>
                </a:solidFill>
              </a:rPr>
              <a:t>Testování a oprava chyb</a:t>
            </a:r>
            <a:endParaRPr lang="en-US" sz="1400" dirty="0"/>
          </a:p>
          <a:p>
            <a:pPr marL="342900" indent="-342900">
              <a:spcAft>
                <a:spcPts val="400"/>
              </a:spcAft>
              <a:buSzPct val="100000"/>
              <a:buChar char="•"/>
            </a:pPr>
            <a:r>
              <a:rPr lang="en-US" sz="1400" dirty="0">
                <a:solidFill>
                  <a:schemeClr val="tx1"/>
                </a:solidFill>
              </a:rPr>
              <a:t>Build a release na GitHubu</a:t>
            </a:r>
            <a:endParaRPr lang="en-US" sz="1400" dirty="0"/>
          </a:p>
          <a:p>
            <a:pPr marL="342900" indent="-342900">
              <a:spcAft>
                <a:spcPts val="400"/>
              </a:spcAft>
              <a:buSzPct val="100000"/>
              <a:buChar char="•"/>
            </a:pPr>
            <a:r>
              <a:rPr lang="en-US" sz="1400" dirty="0">
                <a:solidFill>
                  <a:schemeClr val="tx1"/>
                </a:solidFill>
              </a:rPr>
              <a:t>Uživatelská příručka</a:t>
            </a:r>
            <a:endParaRPr lang="en-US" sz="1400" dirty="0"/>
          </a:p>
        </p:txBody>
      </p:sp>
      <p:sp>
        <p:nvSpPr>
          <p:cNvPr id="11" name="Karta Nebude"/>
          <p:cNvSpPr/>
          <p:nvPr/>
        </p:nvSpPr>
        <p:spPr>
          <a:xfrm>
            <a:off x="6071616" y="1188720"/>
            <a:ext cx="2615184" cy="2514600"/>
          </a:xfrm>
          <a:prstGeom prst="roundRect">
            <a:avLst>
              <a:gd name="adj" fmla="val 4364"/>
            </a:avLst>
          </a:prstGeom>
          <a:solidFill>
            <a:schemeClr val="bg2"/>
          </a:solidFill>
          <a:ln w="12700">
            <a:solidFill>
              <a:schemeClr val="bg2"/>
            </a:solidFill>
            <a:prstDash val="solid"/>
          </a:ln>
        </p:spPr>
      </p:sp>
      <p:sp>
        <p:nvSpPr>
          <p:cNvPr id="12" name="Tečka Nebude"/>
          <p:cNvSpPr/>
          <p:nvPr/>
        </p:nvSpPr>
        <p:spPr>
          <a:xfrm>
            <a:off x="6254496" y="1371600"/>
            <a:ext cx="237744" cy="237744"/>
          </a:xfrm>
          <a:prstGeom prst="ellipse">
            <a:avLst/>
          </a:prstGeom>
          <a:solidFill>
            <a:schemeClr val="accent5"/>
          </a:solidFill>
          <a:ln w="12700">
            <a:solidFill>
              <a:schemeClr val="accent5"/>
            </a:solidFill>
            <a:prstDash val="solid"/>
          </a:ln>
        </p:spPr>
      </p:sp>
      <p:sp>
        <p:nvSpPr>
          <p:cNvPr id="13" name="Nadpis Nebude"/>
          <p:cNvSpPr txBox="1"/>
          <p:nvPr/>
        </p:nvSpPr>
        <p:spPr>
          <a:xfrm>
            <a:off x="6601968" y="1298448"/>
            <a:ext cx="1920240" cy="384048"/>
          </a:xfrm>
          <a:prstGeom prst="rect">
            <a:avLst/>
          </a:prstGeom>
          <a:noFill/>
          <a:ln/>
        </p:spPr>
        <p:txBody>
          <a:bodyPr wrap="square" lIns="0" tIns="0" rIns="0" bIns="0" rtlCol="0" anchor="ctr"/>
          <a:lstStyle/>
          <a:p>
            <a:pPr indent="0" marL="0">
              <a:buNone/>
            </a:pPr>
            <a:r>
              <a:rPr lang="en-US" sz="1800" b="1" dirty="0">
                <a:solidFill>
                  <a:schemeClr val="tx1"/>
                </a:solidFill>
              </a:rPr>
              <a:t>Nebude</a:t>
            </a:r>
            <a:endParaRPr lang="en-US" sz="1800" dirty="0"/>
          </a:p>
        </p:txBody>
      </p:sp>
      <p:sp>
        <p:nvSpPr>
          <p:cNvPr id="14" name="Seznam Nebude"/>
          <p:cNvSpPr txBox="1"/>
          <p:nvPr/>
        </p:nvSpPr>
        <p:spPr>
          <a:xfrm>
            <a:off x="6254496" y="17830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Síťový multiplayer</a:t>
            </a:r>
            <a:endParaRPr lang="en-US" sz="1400" dirty="0"/>
          </a:p>
          <a:p>
            <a:pPr marL="342900" indent="-342900">
              <a:spcAft>
                <a:spcPts val="400"/>
              </a:spcAft>
              <a:buSzPct val="100000"/>
              <a:buChar char="•"/>
            </a:pPr>
            <a:r>
              <a:rPr lang="en-US" sz="1400" dirty="0">
                <a:solidFill>
                  <a:schemeClr val="tx1"/>
                </a:solidFill>
              </a:rPr>
              <a:t>Mobilní verze</a:t>
            </a:r>
            <a:endParaRPr lang="en-US" sz="1400" dirty="0"/>
          </a:p>
          <a:p>
            <a:pPr marL="342900" indent="-342900">
              <a:spcAft>
                <a:spcPts val="400"/>
              </a:spcAft>
              <a:buSzPct val="100000"/>
              <a:buChar char="•"/>
            </a:pPr>
            <a:r>
              <a:rPr lang="en-US" sz="1400" dirty="0">
                <a:solidFill>
                  <a:schemeClr val="tx1"/>
                </a:solidFill>
              </a:rPr>
              <a:t>Vlastní 3D modely</a:t>
            </a:r>
            <a:endParaRPr lang="en-US" sz="1400" dirty="0"/>
          </a:p>
          <a:p>
            <a:pPr marL="342900" indent="-342900">
              <a:spcAft>
                <a:spcPts val="400"/>
              </a:spcAft>
              <a:buSzPct val="100000"/>
              <a:buChar char="•"/>
            </a:pPr>
            <a:r>
              <a:rPr lang="en-US" sz="1400" dirty="0">
                <a:solidFill>
                  <a:schemeClr val="tx1"/>
                </a:solidFill>
              </a:rPr>
              <a:t>Nové velké funkce</a:t>
            </a:r>
            <a:endParaRPr lang="en-US" sz="1400" dirty="0"/>
          </a:p>
        </p:txBody>
      </p:sp>
      <p:sp>
        <p:nvSpPr>
          <p:cNvPr id="15" name="Číslo 1"/>
          <p:cNvSpPr txBox="1"/>
          <p:nvPr/>
        </p:nvSpPr>
        <p:spPr>
          <a:xfrm>
            <a:off x="457200" y="3840480"/>
            <a:ext cx="1325880" cy="640080"/>
          </a:xfrm>
          <a:prstGeom prst="rect">
            <a:avLst/>
          </a:prstGeom>
          <a:noFill/>
          <a:ln/>
        </p:spPr>
        <p:txBody>
          <a:bodyPr wrap="square" lIns="0" tIns="0" rIns="0" bIns="0" rtlCol="0" anchor="ctr"/>
          <a:lstStyle/>
          <a:p>
            <a:pPr algn="r" indent="0" marL="0">
              <a:buNone/>
            </a:pPr>
            <a:r>
              <a:rPr lang="en-US" sz="3000" b="1" dirty="0">
                <a:solidFill>
                  <a:schemeClr val="accent2"/>
                </a:solidFill>
                <a:latin typeface="Cambria" pitchFamily="34" charset="0"/>
                <a:ea typeface="Cambria" pitchFamily="34" charset="-122"/>
                <a:cs typeface="Cambria" pitchFamily="34" charset="-120"/>
              </a:rPr>
              <a:t>60+</a:t>
            </a:r>
            <a:endParaRPr lang="en-US" sz="3000" dirty="0"/>
          </a:p>
        </p:txBody>
      </p:sp>
      <p:sp>
        <p:nvSpPr>
          <p:cNvPr id="16" name="Popisek 1"/>
          <p:cNvSpPr txBox="1"/>
          <p:nvPr/>
        </p:nvSpPr>
        <p:spPr>
          <a:xfrm>
            <a:off x="1920240" y="3840480"/>
            <a:ext cx="1234440" cy="640080"/>
          </a:xfrm>
          <a:prstGeom prst="rect">
            <a:avLst/>
          </a:prstGeom>
          <a:noFill/>
          <a:ln/>
        </p:spPr>
        <p:txBody>
          <a:bodyPr wrap="square" lIns="0" tIns="0" rIns="0" bIns="0" rtlCol="0" anchor="ctr"/>
          <a:lstStyle/>
          <a:p>
            <a:pPr indent="0" marL="0">
              <a:buNone/>
            </a:pPr>
            <a:r>
              <a:rPr lang="en-US" sz="1400" dirty="0">
                <a:solidFill>
                  <a:schemeClr val="tx1"/>
                </a:solidFill>
              </a:rPr>
              <a:t>skriptů v C#</a:t>
            </a:r>
            <a:endParaRPr lang="en-US" sz="1400" dirty="0"/>
          </a:p>
        </p:txBody>
      </p:sp>
      <p:sp>
        <p:nvSpPr>
          <p:cNvPr id="17" name="Číslo 2"/>
          <p:cNvSpPr txBox="1"/>
          <p:nvPr/>
        </p:nvSpPr>
        <p:spPr>
          <a:xfrm>
            <a:off x="3264408" y="3840480"/>
            <a:ext cx="1325880" cy="640080"/>
          </a:xfrm>
          <a:prstGeom prst="rect">
            <a:avLst/>
          </a:prstGeom>
          <a:noFill/>
          <a:ln/>
        </p:spPr>
        <p:txBody>
          <a:bodyPr wrap="square" lIns="0" tIns="0" rIns="0" bIns="0" rtlCol="0" anchor="ctr"/>
          <a:lstStyle/>
          <a:p>
            <a:pPr algn="r" indent="0" marL="0">
              <a:buNone/>
            </a:pPr>
            <a:r>
              <a:rPr lang="en-US" sz="3000" b="1" dirty="0">
                <a:solidFill>
                  <a:schemeClr val="accent2"/>
                </a:solidFill>
                <a:latin typeface="Cambria" pitchFamily="34" charset="0"/>
                <a:ea typeface="Cambria" pitchFamily="34" charset="-122"/>
                <a:cs typeface="Cambria" pitchFamily="34" charset="-120"/>
              </a:rPr>
              <a:t>18 000</a:t>
            </a:r>
            <a:endParaRPr lang="en-US" sz="3000" dirty="0"/>
          </a:p>
        </p:txBody>
      </p:sp>
      <p:sp>
        <p:nvSpPr>
          <p:cNvPr id="18" name="Popisek 2"/>
          <p:cNvSpPr txBox="1"/>
          <p:nvPr/>
        </p:nvSpPr>
        <p:spPr>
          <a:xfrm>
            <a:off x="4727448" y="3840480"/>
            <a:ext cx="1234440" cy="640080"/>
          </a:xfrm>
          <a:prstGeom prst="rect">
            <a:avLst/>
          </a:prstGeom>
          <a:noFill/>
          <a:ln/>
        </p:spPr>
        <p:txBody>
          <a:bodyPr wrap="square" lIns="0" tIns="0" rIns="0" bIns="0" rtlCol="0" anchor="ctr"/>
          <a:lstStyle/>
          <a:p>
            <a:pPr indent="0" marL="0">
              <a:buNone/>
            </a:pPr>
            <a:r>
              <a:rPr lang="en-US" sz="1400" dirty="0">
                <a:solidFill>
                  <a:schemeClr val="tx1"/>
                </a:solidFill>
              </a:rPr>
              <a:t>řádků kódu</a:t>
            </a:r>
            <a:endParaRPr lang="en-US" sz="1400" dirty="0"/>
          </a:p>
        </p:txBody>
      </p:sp>
      <p:sp>
        <p:nvSpPr>
          <p:cNvPr id="19" name="Číslo 3"/>
          <p:cNvSpPr txBox="1"/>
          <p:nvPr/>
        </p:nvSpPr>
        <p:spPr>
          <a:xfrm>
            <a:off x="6071616" y="3840480"/>
            <a:ext cx="1325880" cy="640080"/>
          </a:xfrm>
          <a:prstGeom prst="rect">
            <a:avLst/>
          </a:prstGeom>
          <a:noFill/>
          <a:ln/>
        </p:spPr>
        <p:txBody>
          <a:bodyPr wrap="square" lIns="0" tIns="0" rIns="0" bIns="0" rtlCol="0" anchor="ctr"/>
          <a:lstStyle/>
          <a:p>
            <a:pPr algn="r" indent="0" marL="0">
              <a:buNone/>
            </a:pPr>
            <a:r>
              <a:rPr lang="en-US" sz="3000" b="1" dirty="0">
                <a:solidFill>
                  <a:schemeClr val="accent2"/>
                </a:solidFill>
                <a:latin typeface="Cambria" pitchFamily="34" charset="0"/>
                <a:ea typeface="Cambria" pitchFamily="34" charset="-122"/>
                <a:cs typeface="Cambria" pitchFamily="34" charset="-120"/>
              </a:rPr>
              <a:t>200+</a:t>
            </a:r>
            <a:endParaRPr lang="en-US" sz="3000" dirty="0"/>
          </a:p>
        </p:txBody>
      </p:sp>
      <p:sp>
        <p:nvSpPr>
          <p:cNvPr id="20" name="Popisek 3"/>
          <p:cNvSpPr txBox="1"/>
          <p:nvPr/>
        </p:nvSpPr>
        <p:spPr>
          <a:xfrm>
            <a:off x="7534656" y="3840480"/>
            <a:ext cx="1234440" cy="640080"/>
          </a:xfrm>
          <a:prstGeom prst="rect">
            <a:avLst/>
          </a:prstGeom>
          <a:noFill/>
          <a:ln/>
        </p:spPr>
        <p:txBody>
          <a:bodyPr wrap="square" lIns="0" tIns="0" rIns="0" bIns="0" rtlCol="0" anchor="ctr"/>
          <a:lstStyle/>
          <a:p>
            <a:pPr indent="0" marL="0">
              <a:buNone/>
            </a:pPr>
            <a:r>
              <a:rPr lang="en-US" sz="1400" dirty="0">
                <a:solidFill>
                  <a:schemeClr val="tx1"/>
                </a:solidFill>
              </a:rPr>
              <a:t>commitů na GitHubu</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Architektura</a:t>
            </a:r>
            <a:endParaRPr lang="en-US" sz="3400" dirty="0"/>
          </a:p>
        </p:txBody>
      </p:sp>
      <p:pic>
        <p:nvPicPr>
          <p:cNvPr id="3" name="Schéma architektury" descr="Schéma vrstev: rozhraní, herní logika, stav a ukládání">    </p:cNvPr>
          <p:cNvPicPr>
            <a:picLocks noChangeAspect="1"/>
          </p:cNvPicPr>
          <p:nvPr/>
        </p:nvPicPr>
        <p:blipFill>
          <a:blip r:embed="rId1"/>
          <a:stretch>
            <a:fillRect/>
          </a:stretch>
        </p:blipFill>
        <p:spPr>
          <a:xfrm>
            <a:off x="457200" y="1097280"/>
            <a:ext cx="4480560" cy="3236976"/>
          </a:xfrm>
          <a:prstGeom prst="rect">
            <a:avLst/>
          </a:prstGeom>
        </p:spPr>
      </p:pic>
      <p:sp>
        <p:nvSpPr>
          <p:cNvPr id="4" name="Číslo 1"/>
          <p:cNvSpPr/>
          <p:nvPr/>
        </p:nvSpPr>
        <p:spPr>
          <a:xfrm>
            <a:off x="5257800" y="1143000"/>
            <a:ext cx="365760" cy="365760"/>
          </a:xfrm>
          <a:prstGeom prst="ellipse">
            <a:avLst/>
          </a:prstGeom>
          <a:solidFill>
            <a:schemeClr val="accent2"/>
          </a:solidFill>
          <a:ln w="12700">
            <a:solidFill>
              <a:schemeClr val="accent2"/>
            </a:solidFill>
            <a:prstDash val="solid"/>
          </a:ln>
        </p:spPr>
      </p:sp>
      <p:sp>
        <p:nvSpPr>
          <p:cNvPr id="5" name="Číslo 1 text"/>
          <p:cNvSpPr txBox="1"/>
          <p:nvPr/>
        </p:nvSpPr>
        <p:spPr>
          <a:xfrm>
            <a:off x="5257800" y="11430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Nadpis 1"/>
          <p:cNvSpPr txBox="1"/>
          <p:nvPr/>
        </p:nvSpPr>
        <p:spPr>
          <a:xfrm>
            <a:off x="5760720" y="1097280"/>
            <a:ext cx="2926080" cy="292608"/>
          </a:xfrm>
          <a:prstGeom prst="rect">
            <a:avLst/>
          </a:prstGeom>
          <a:noFill/>
          <a:ln/>
        </p:spPr>
        <p:txBody>
          <a:bodyPr wrap="square" lIns="0" tIns="0" rIns="0" bIns="0" rtlCol="0" anchor="ctr"/>
          <a:lstStyle/>
          <a:p>
            <a:pPr indent="0" marL="0">
              <a:buNone/>
            </a:pPr>
            <a:r>
              <a:rPr lang="en-US" sz="1600" b="1" dirty="0">
                <a:solidFill>
                  <a:schemeClr val="tx1"/>
                </a:solidFill>
              </a:rPr>
              <a:t>Unity 6, C#, URP</a:t>
            </a:r>
            <a:endParaRPr lang="en-US" sz="1600" dirty="0"/>
          </a:p>
        </p:txBody>
      </p:sp>
      <p:sp>
        <p:nvSpPr>
          <p:cNvPr id="7" name="Popis 1"/>
          <p:cNvSpPr txBox="1"/>
          <p:nvPr/>
        </p:nvSpPr>
        <p:spPr>
          <a:xfrm>
            <a:off x="5760720" y="1408176"/>
            <a:ext cx="2926080" cy="502920"/>
          </a:xfrm>
          <a:prstGeom prst="rect">
            <a:avLst/>
          </a:prstGeom>
          <a:noFill/>
          <a:ln/>
        </p:spPr>
        <p:txBody>
          <a:bodyPr wrap="square" lIns="0" tIns="0" rIns="0" bIns="0" rtlCol="0" anchor="t"/>
          <a:lstStyle/>
          <a:p>
            <a:pPr indent="0" marL="0">
              <a:buNone/>
            </a:pPr>
            <a:r>
              <a:rPr lang="en-US" sz="1400" dirty="0">
                <a:solidFill>
                  <a:schemeClr val="accent5"/>
                </a:solidFill>
              </a:rPr>
              <a:t>Jedna offline aplikace, žádný server.</a:t>
            </a:r>
            <a:endParaRPr lang="en-US" sz="1400" dirty="0"/>
          </a:p>
        </p:txBody>
      </p:sp>
      <p:sp>
        <p:nvSpPr>
          <p:cNvPr id="8" name="Číslo 2"/>
          <p:cNvSpPr/>
          <p:nvPr/>
        </p:nvSpPr>
        <p:spPr>
          <a:xfrm>
            <a:off x="5257800" y="2011680"/>
            <a:ext cx="365760" cy="365760"/>
          </a:xfrm>
          <a:prstGeom prst="ellipse">
            <a:avLst/>
          </a:prstGeom>
          <a:solidFill>
            <a:schemeClr val="accent2"/>
          </a:solidFill>
          <a:ln w="12700">
            <a:solidFill>
              <a:schemeClr val="accent2"/>
            </a:solidFill>
            <a:prstDash val="solid"/>
          </a:ln>
        </p:spPr>
      </p:sp>
      <p:sp>
        <p:nvSpPr>
          <p:cNvPr id="9" name="Číslo 2 text"/>
          <p:cNvSpPr txBox="1"/>
          <p:nvPr/>
        </p:nvSpPr>
        <p:spPr>
          <a:xfrm>
            <a:off x="5257800" y="20116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Nadpis 2"/>
          <p:cNvSpPr txBox="1"/>
          <p:nvPr/>
        </p:nvSpPr>
        <p:spPr>
          <a:xfrm>
            <a:off x="5760720" y="1965960"/>
            <a:ext cx="2926080" cy="292608"/>
          </a:xfrm>
          <a:prstGeom prst="rect">
            <a:avLst/>
          </a:prstGeom>
          <a:noFill/>
          <a:ln/>
        </p:spPr>
        <p:txBody>
          <a:bodyPr wrap="square" lIns="0" tIns="0" rIns="0" bIns="0" rtlCol="0" anchor="ctr"/>
          <a:lstStyle/>
          <a:p>
            <a:pPr indent="0" marL="0">
              <a:buNone/>
            </a:pPr>
            <a:r>
              <a:rPr lang="en-US" sz="1600" b="1" dirty="0">
                <a:solidFill>
                  <a:schemeClr val="tx1"/>
                </a:solidFill>
              </a:rPr>
              <a:t>Jeden zdroj pravdy</a:t>
            </a:r>
            <a:endParaRPr lang="en-US" sz="1600" dirty="0"/>
          </a:p>
        </p:txBody>
      </p:sp>
      <p:sp>
        <p:nvSpPr>
          <p:cNvPr id="11" name="Popis 2"/>
          <p:cNvSpPr txBox="1"/>
          <p:nvPr/>
        </p:nvSpPr>
        <p:spPr>
          <a:xfrm>
            <a:off x="5760720" y="2276856"/>
            <a:ext cx="2926080" cy="502920"/>
          </a:xfrm>
          <a:prstGeom prst="rect">
            <a:avLst/>
          </a:prstGeom>
          <a:noFill/>
          <a:ln/>
        </p:spPr>
        <p:txBody>
          <a:bodyPr wrap="square" lIns="0" tIns="0" rIns="0" bIns="0" rtlCol="0" anchor="t"/>
          <a:lstStyle/>
          <a:p>
            <a:pPr indent="0" marL="0">
              <a:buNone/>
            </a:pPr>
            <a:r>
              <a:rPr lang="en-US" sz="1400" dirty="0">
                <a:solidFill>
                  <a:schemeClr val="accent5"/>
                </a:solidFill>
              </a:rPr>
              <a:t>Stav hry v GameData, ukládá se do JSON, 3 sloty.</a:t>
            </a:r>
            <a:endParaRPr lang="en-US" sz="1400" dirty="0"/>
          </a:p>
        </p:txBody>
      </p:sp>
      <p:sp>
        <p:nvSpPr>
          <p:cNvPr id="12" name="Číslo 3"/>
          <p:cNvSpPr/>
          <p:nvPr/>
        </p:nvSpPr>
        <p:spPr>
          <a:xfrm>
            <a:off x="5257800" y="2880360"/>
            <a:ext cx="365760" cy="365760"/>
          </a:xfrm>
          <a:prstGeom prst="ellipse">
            <a:avLst/>
          </a:prstGeom>
          <a:solidFill>
            <a:schemeClr val="accent2"/>
          </a:solidFill>
          <a:ln w="12700">
            <a:solidFill>
              <a:schemeClr val="accent2"/>
            </a:solidFill>
            <a:prstDash val="solid"/>
          </a:ln>
        </p:spPr>
      </p:sp>
      <p:sp>
        <p:nvSpPr>
          <p:cNvPr id="13" name="Číslo 3 text"/>
          <p:cNvSpPr txBox="1"/>
          <p:nvPr/>
        </p:nvSpPr>
        <p:spPr>
          <a:xfrm>
            <a:off x="5257800" y="28803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Nadpis 3"/>
          <p:cNvSpPr txBox="1"/>
          <p:nvPr/>
        </p:nvSpPr>
        <p:spPr>
          <a:xfrm>
            <a:off x="5760720" y="2834640"/>
            <a:ext cx="2926080" cy="292608"/>
          </a:xfrm>
          <a:prstGeom prst="rect">
            <a:avLst/>
          </a:prstGeom>
          <a:noFill/>
          <a:ln/>
        </p:spPr>
        <p:txBody>
          <a:bodyPr wrap="square" lIns="0" tIns="0" rIns="0" bIns="0" rtlCol="0" anchor="ctr"/>
          <a:lstStyle/>
          <a:p>
            <a:pPr indent="0" marL="0">
              <a:buNone/>
            </a:pPr>
            <a:r>
              <a:rPr lang="en-US" sz="1600" b="1" dirty="0">
                <a:solidFill>
                  <a:schemeClr val="tx1"/>
                </a:solidFill>
              </a:rPr>
              <a:t>Nekonečný svět</a:t>
            </a:r>
            <a:endParaRPr lang="en-US" sz="1600" dirty="0"/>
          </a:p>
        </p:txBody>
      </p:sp>
      <p:sp>
        <p:nvSpPr>
          <p:cNvPr id="15" name="Popis 3"/>
          <p:cNvSpPr txBox="1"/>
          <p:nvPr/>
        </p:nvSpPr>
        <p:spPr>
          <a:xfrm>
            <a:off x="5760720" y="3145536"/>
            <a:ext cx="2926080" cy="502920"/>
          </a:xfrm>
          <a:prstGeom prst="rect">
            <a:avLst/>
          </a:prstGeom>
          <a:noFill/>
          <a:ln/>
        </p:spPr>
        <p:txBody>
          <a:bodyPr wrap="square" lIns="0" tIns="0" rIns="0" bIns="0" rtlCol="0" anchor="t"/>
          <a:lstStyle/>
          <a:p>
            <a:pPr indent="0" marL="0">
              <a:buNone/>
            </a:pPr>
            <a:r>
              <a:rPr lang="en-US" sz="1400" dirty="0">
                <a:solidFill>
                  <a:schemeClr val="accent5"/>
                </a:solidFill>
              </a:rPr>
              <a:t>Generuje se kolem hráče, moře je jedna plocha.</a:t>
            </a:r>
            <a:endParaRPr lang="en-US" sz="1400" dirty="0"/>
          </a:p>
        </p:txBody>
      </p:sp>
      <p:sp>
        <p:nvSpPr>
          <p:cNvPr id="16" name="Číslo 4"/>
          <p:cNvSpPr/>
          <p:nvPr/>
        </p:nvSpPr>
        <p:spPr>
          <a:xfrm>
            <a:off x="5257800" y="3749040"/>
            <a:ext cx="365760" cy="365760"/>
          </a:xfrm>
          <a:prstGeom prst="ellipse">
            <a:avLst/>
          </a:prstGeom>
          <a:solidFill>
            <a:schemeClr val="accent2"/>
          </a:solidFill>
          <a:ln w="12700">
            <a:solidFill>
              <a:schemeClr val="accent2"/>
            </a:solidFill>
            <a:prstDash val="solid"/>
          </a:ln>
        </p:spPr>
      </p:sp>
      <p:sp>
        <p:nvSpPr>
          <p:cNvPr id="17" name="Číslo 4 text"/>
          <p:cNvSpPr txBox="1"/>
          <p:nvPr/>
        </p:nvSpPr>
        <p:spPr>
          <a:xfrm>
            <a:off x="5257800" y="37490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Nadpis 4"/>
          <p:cNvSpPr txBox="1"/>
          <p:nvPr/>
        </p:nvSpPr>
        <p:spPr>
          <a:xfrm>
            <a:off x="5760720" y="3703320"/>
            <a:ext cx="2926080" cy="292608"/>
          </a:xfrm>
          <a:prstGeom prst="rect">
            <a:avLst/>
          </a:prstGeom>
          <a:noFill/>
          <a:ln/>
        </p:spPr>
        <p:txBody>
          <a:bodyPr wrap="square" lIns="0" tIns="0" rIns="0" bIns="0" rtlCol="0" anchor="ctr"/>
          <a:lstStyle/>
          <a:p>
            <a:pPr indent="0" marL="0">
              <a:buNone/>
            </a:pPr>
            <a:r>
              <a:rPr lang="en-US" sz="1600" b="1" dirty="0">
                <a:solidFill>
                  <a:schemeClr val="tx1"/>
                </a:solidFill>
              </a:rPr>
              <a:t>Git a GitHub</a:t>
            </a:r>
            <a:endParaRPr lang="en-US" sz="1600" dirty="0"/>
          </a:p>
        </p:txBody>
      </p:sp>
      <p:sp>
        <p:nvSpPr>
          <p:cNvPr id="19" name="Popis 4"/>
          <p:cNvSpPr txBox="1"/>
          <p:nvPr/>
        </p:nvSpPr>
        <p:spPr>
          <a:xfrm>
            <a:off x="5760720" y="4014216"/>
            <a:ext cx="2926080" cy="502920"/>
          </a:xfrm>
          <a:prstGeom prst="rect">
            <a:avLst/>
          </a:prstGeom>
          <a:noFill/>
          <a:ln/>
        </p:spPr>
        <p:txBody>
          <a:bodyPr wrap="square" lIns="0" tIns="0" rIns="0" bIns="0" rtlCol="0" anchor="t"/>
          <a:lstStyle/>
          <a:p>
            <a:pPr indent="0" marL="0">
              <a:buNone/>
            </a:pPr>
            <a:r>
              <a:rPr lang="en-US" sz="1400" dirty="0">
                <a:solidFill>
                  <a:schemeClr val="accent5"/>
                </a:solidFill>
              </a:rPr>
              <a:t>Repozitář, README, licence a složka /docs.</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Ukázka hry</a:t>
            </a:r>
            <a:endParaRPr lang="en-US" sz="3400" dirty="0"/>
          </a:p>
        </p:txBody>
      </p:sp>
      <p:pic>
        <p:nvPicPr>
          <p:cNvPr id="3" name="Snímek ostrova" descr="Ostrov s molem a majákem">    </p:cNvPr>
          <p:cNvPicPr>
            <a:picLocks noChangeAspect="1"/>
          </p:cNvPicPr>
          <p:nvPr/>
        </p:nvPicPr>
        <p:blipFill>
          <a:blip r:embed="rId1"/>
          <a:stretch>
            <a:fillRect/>
          </a:stretch>
        </p:blipFill>
        <p:spPr>
          <a:xfrm>
            <a:off x="457200" y="1188720"/>
            <a:ext cx="4937760" cy="2359152"/>
          </a:xfrm>
          <a:prstGeom prst="rect">
            <a:avLst/>
          </a:prstGeom>
        </p:spPr>
      </p:pic>
      <p:pic>
        <p:nvPicPr>
          <p:cNvPr id="4" name="Snímek obchodu" descr="Obchod v majáku">    </p:cNvPr>
          <p:cNvPicPr>
            <a:picLocks noChangeAspect="1"/>
          </p:cNvPicPr>
          <p:nvPr/>
        </p:nvPicPr>
        <p:blipFill>
          <a:blip r:embed="rId2"/>
          <a:stretch>
            <a:fillRect/>
          </a:stretch>
        </p:blipFill>
        <p:spPr>
          <a:xfrm>
            <a:off x="457200" y="3657600"/>
            <a:ext cx="1645920" cy="786384"/>
          </a:xfrm>
          <a:prstGeom prst="rect">
            <a:avLst/>
          </a:prstGeom>
        </p:spPr>
      </p:pic>
      <p:pic>
        <p:nvPicPr>
          <p:cNvPr id="5" name="Snímek menu" descr="Hlavní menu">    </p:cNvPr>
          <p:cNvPicPr>
            <a:picLocks noChangeAspect="1"/>
          </p:cNvPicPr>
          <p:nvPr/>
        </p:nvPicPr>
        <p:blipFill>
          <a:blip r:embed="rId3"/>
          <a:stretch>
            <a:fillRect/>
          </a:stretch>
        </p:blipFill>
        <p:spPr>
          <a:xfrm>
            <a:off x="2286000" y="3657600"/>
            <a:ext cx="1645920" cy="786384"/>
          </a:xfrm>
          <a:prstGeom prst="rect">
            <a:avLst/>
          </a:prstGeom>
        </p:spPr>
      </p:pic>
      <p:sp>
        <p:nvSpPr>
          <p:cNvPr id="6" name="Krok 1"/>
          <p:cNvSpPr/>
          <p:nvPr/>
        </p:nvSpPr>
        <p:spPr>
          <a:xfrm>
            <a:off x="5760720" y="1280160"/>
            <a:ext cx="420624" cy="420624"/>
          </a:xfrm>
          <a:prstGeom prst="ellipse">
            <a:avLst/>
          </a:prstGeom>
          <a:solidFill>
            <a:schemeClr val="accent2"/>
          </a:solidFill>
          <a:ln w="12700">
            <a:solidFill>
              <a:schemeClr val="accent2"/>
            </a:solidFill>
            <a:prstDash val="solid"/>
          </a:ln>
        </p:spPr>
      </p:sp>
      <p:sp>
        <p:nvSpPr>
          <p:cNvPr id="7" name="Krok 1 text"/>
          <p:cNvSpPr txBox="1"/>
          <p:nvPr/>
        </p:nvSpPr>
        <p:spPr>
          <a:xfrm>
            <a:off x="5760720" y="128016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Krok text 1"/>
          <p:cNvSpPr txBox="1"/>
          <p:nvPr/>
        </p:nvSpPr>
        <p:spPr>
          <a:xfrm>
            <a:off x="6355080" y="1280160"/>
            <a:ext cx="2331720" cy="420624"/>
          </a:xfrm>
          <a:prstGeom prst="rect">
            <a:avLst/>
          </a:prstGeom>
          <a:noFill/>
          <a:ln/>
        </p:spPr>
        <p:txBody>
          <a:bodyPr wrap="square" lIns="0" tIns="0" rIns="0" bIns="0" rtlCol="0" anchor="ctr"/>
          <a:lstStyle/>
          <a:p>
            <a:pPr indent="0" marL="0">
              <a:buNone/>
            </a:pPr>
            <a:r>
              <a:rPr lang="en-US" sz="1600" dirty="0">
                <a:solidFill>
                  <a:schemeClr val="tx1"/>
                </a:solidFill>
              </a:rPr>
              <a:t>Plavba a rybaření</a:t>
            </a:r>
            <a:endParaRPr lang="en-US" sz="1600" dirty="0"/>
          </a:p>
        </p:txBody>
      </p:sp>
      <p:sp>
        <p:nvSpPr>
          <p:cNvPr id="9" name="Krok 2"/>
          <p:cNvSpPr/>
          <p:nvPr/>
        </p:nvSpPr>
        <p:spPr>
          <a:xfrm>
            <a:off x="5760720" y="1993392"/>
            <a:ext cx="420624" cy="420624"/>
          </a:xfrm>
          <a:prstGeom prst="ellipse">
            <a:avLst/>
          </a:prstGeom>
          <a:solidFill>
            <a:schemeClr val="accent2"/>
          </a:solidFill>
          <a:ln w="12700">
            <a:solidFill>
              <a:schemeClr val="accent2"/>
            </a:solidFill>
            <a:prstDash val="solid"/>
          </a:ln>
        </p:spPr>
      </p:sp>
      <p:sp>
        <p:nvSpPr>
          <p:cNvPr id="10" name="Krok 2 text"/>
          <p:cNvSpPr txBox="1"/>
          <p:nvPr/>
        </p:nvSpPr>
        <p:spPr>
          <a:xfrm>
            <a:off x="5760720" y="199339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Krok text 2"/>
          <p:cNvSpPr txBox="1"/>
          <p:nvPr/>
        </p:nvSpPr>
        <p:spPr>
          <a:xfrm>
            <a:off x="6355080" y="1993392"/>
            <a:ext cx="2331720" cy="420624"/>
          </a:xfrm>
          <a:prstGeom prst="rect">
            <a:avLst/>
          </a:prstGeom>
          <a:noFill/>
          <a:ln/>
        </p:spPr>
        <p:txBody>
          <a:bodyPr wrap="square" lIns="0" tIns="0" rIns="0" bIns="0" rtlCol="0" anchor="ctr"/>
          <a:lstStyle/>
          <a:p>
            <a:pPr indent="0" marL="0">
              <a:buNone/>
            </a:pPr>
            <a:r>
              <a:rPr lang="en-US" sz="1600" dirty="0">
                <a:solidFill>
                  <a:schemeClr val="tx1"/>
                </a:solidFill>
              </a:rPr>
              <a:t>Maják: prodej a obchod</a:t>
            </a:r>
            <a:endParaRPr lang="en-US" sz="1600" dirty="0"/>
          </a:p>
        </p:txBody>
      </p:sp>
      <p:sp>
        <p:nvSpPr>
          <p:cNvPr id="12" name="Krok 3"/>
          <p:cNvSpPr/>
          <p:nvPr/>
        </p:nvSpPr>
        <p:spPr>
          <a:xfrm>
            <a:off x="5760720" y="2706624"/>
            <a:ext cx="420624" cy="420624"/>
          </a:xfrm>
          <a:prstGeom prst="ellipse">
            <a:avLst/>
          </a:prstGeom>
          <a:solidFill>
            <a:schemeClr val="accent2"/>
          </a:solidFill>
          <a:ln w="12700">
            <a:solidFill>
              <a:schemeClr val="accent2"/>
            </a:solidFill>
            <a:prstDash val="solid"/>
          </a:ln>
        </p:spPr>
      </p:sp>
      <p:sp>
        <p:nvSpPr>
          <p:cNvPr id="13" name="Krok 3 text"/>
          <p:cNvSpPr txBox="1"/>
          <p:nvPr/>
        </p:nvSpPr>
        <p:spPr>
          <a:xfrm>
            <a:off x="5760720" y="270662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Krok text 3"/>
          <p:cNvSpPr txBox="1"/>
          <p:nvPr/>
        </p:nvSpPr>
        <p:spPr>
          <a:xfrm>
            <a:off x="6355080" y="2706624"/>
            <a:ext cx="2331720" cy="420624"/>
          </a:xfrm>
          <a:prstGeom prst="rect">
            <a:avLst/>
          </a:prstGeom>
          <a:noFill/>
          <a:ln/>
        </p:spPr>
        <p:txBody>
          <a:bodyPr wrap="square" lIns="0" tIns="0" rIns="0" bIns="0" rtlCol="0" anchor="ctr"/>
          <a:lstStyle/>
          <a:p>
            <a:pPr indent="0" marL="0">
              <a:buNone/>
            </a:pPr>
            <a:r>
              <a:rPr lang="en-US" sz="1600" dirty="0">
                <a:solidFill>
                  <a:schemeClr val="tx1"/>
                </a:solidFill>
              </a:rPr>
              <a:t>Souboj s pirátem</a:t>
            </a:r>
            <a:endParaRPr lang="en-US" sz="1600" dirty="0"/>
          </a:p>
        </p:txBody>
      </p:sp>
      <p:sp>
        <p:nvSpPr>
          <p:cNvPr id="15" name="Krok 4"/>
          <p:cNvSpPr/>
          <p:nvPr/>
        </p:nvSpPr>
        <p:spPr>
          <a:xfrm>
            <a:off x="5760720" y="3419856"/>
            <a:ext cx="420624" cy="420624"/>
          </a:xfrm>
          <a:prstGeom prst="ellipse">
            <a:avLst/>
          </a:prstGeom>
          <a:solidFill>
            <a:schemeClr val="accent2"/>
          </a:solidFill>
          <a:ln w="12700">
            <a:solidFill>
              <a:schemeClr val="accent2"/>
            </a:solidFill>
            <a:prstDash val="solid"/>
          </a:ln>
        </p:spPr>
      </p:sp>
      <p:sp>
        <p:nvSpPr>
          <p:cNvPr id="16" name="Krok 4 text"/>
          <p:cNvSpPr txBox="1"/>
          <p:nvPr/>
        </p:nvSpPr>
        <p:spPr>
          <a:xfrm>
            <a:off x="5760720" y="341985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Krok text 4"/>
          <p:cNvSpPr txBox="1"/>
          <p:nvPr/>
        </p:nvSpPr>
        <p:spPr>
          <a:xfrm>
            <a:off x="6355080" y="3419856"/>
            <a:ext cx="2331720" cy="420624"/>
          </a:xfrm>
          <a:prstGeom prst="rect">
            <a:avLst/>
          </a:prstGeom>
          <a:noFill/>
          <a:ln/>
        </p:spPr>
        <p:txBody>
          <a:bodyPr wrap="square" lIns="0" tIns="0" rIns="0" bIns="0" rtlCol="0" anchor="ctr"/>
          <a:lstStyle/>
          <a:p>
            <a:pPr indent="0" marL="0">
              <a:buNone/>
            </a:pPr>
            <a:r>
              <a:rPr lang="en-US" sz="1600" dirty="0">
                <a:solidFill>
                  <a:schemeClr val="tx1"/>
                </a:solidFill>
              </a:rPr>
              <a:t>Split-screen pro dva</a:t>
            </a:r>
            <a:endParaRPr lang="en-US" sz="1600" dirty="0"/>
          </a:p>
        </p:txBody>
      </p:sp>
      <p:sp>
        <p:nvSpPr>
          <p:cNvPr id="18" name="Poznámka demo"/>
          <p:cNvSpPr txBox="1"/>
          <p:nvPr/>
        </p:nvSpPr>
        <p:spPr>
          <a:xfrm>
            <a:off x="5760720" y="4114800"/>
            <a:ext cx="2926080" cy="365760"/>
          </a:xfrm>
          <a:prstGeom prst="rect">
            <a:avLst/>
          </a:prstGeom>
          <a:noFill/>
          <a:ln/>
        </p:spPr>
        <p:txBody>
          <a:bodyPr wrap="square" lIns="0" tIns="0" rIns="0" bIns="0" rtlCol="0" anchor="ctr"/>
          <a:lstStyle/>
          <a:p>
            <a:pPr indent="0" marL="0">
              <a:buNone/>
            </a:pPr>
            <a:r>
              <a:rPr lang="en-US" sz="1400" i="1" dirty="0">
                <a:solidFill>
                  <a:schemeClr val="accent5"/>
                </a:solidFill>
              </a:rPr>
              <a:t>Živé demo nebo video, 60–90 s</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Rizika a licence</a:t>
            </a:r>
            <a:endParaRPr lang="en-US" sz="3400" dirty="0"/>
          </a:p>
        </p:txBody>
      </p:sp>
      <p:sp>
        <p:nvSpPr>
          <p:cNvPr id="3" name="Nadpis rizika"/>
          <p:cNvSpPr txBox="1"/>
          <p:nvPr/>
        </p:nvSpPr>
        <p:spPr>
          <a:xfrm>
            <a:off x="457200" y="1143000"/>
            <a:ext cx="4023360" cy="320040"/>
          </a:xfrm>
          <a:prstGeom prst="rect">
            <a:avLst/>
          </a:prstGeom>
          <a:noFill/>
          <a:ln/>
        </p:spPr>
        <p:txBody>
          <a:bodyPr wrap="square" lIns="0" tIns="0" rIns="0" bIns="0" rtlCol="0" anchor="ctr"/>
          <a:lstStyle/>
          <a:p>
            <a:pPr indent="0" marL="0">
              <a:buNone/>
            </a:pPr>
            <a:r>
              <a:rPr lang="en-US" sz="1800" b="1" dirty="0">
                <a:solidFill>
                  <a:schemeClr val="accent2"/>
                </a:solidFill>
              </a:rPr>
              <a:t>Rizika</a:t>
            </a:r>
            <a:endParaRPr lang="en-US" sz="1800" dirty="0"/>
          </a:p>
        </p:txBody>
      </p:sp>
      <p:sp>
        <p:nvSpPr>
          <p:cNvPr id="4" name="Riziko 1"/>
          <p:cNvSpPr txBox="1"/>
          <p:nvPr/>
        </p:nvSpPr>
        <p:spPr>
          <a:xfrm>
            <a:off x="457200" y="1600200"/>
            <a:ext cx="4023360" cy="274320"/>
          </a:xfrm>
          <a:prstGeom prst="rect">
            <a:avLst/>
          </a:prstGeom>
          <a:noFill/>
          <a:ln/>
        </p:spPr>
        <p:txBody>
          <a:bodyPr wrap="square" lIns="0" tIns="0" rIns="0" bIns="0" rtlCol="0" anchor="ctr"/>
          <a:lstStyle/>
          <a:p>
            <a:pPr indent="0" marL="0">
              <a:buNone/>
            </a:pPr>
            <a:r>
              <a:rPr lang="en-US" sz="1600" b="1" dirty="0">
                <a:solidFill>
                  <a:schemeClr val="tx1"/>
                </a:solidFill>
              </a:rPr>
              <a:t>Čas</a:t>
            </a:r>
            <a:endParaRPr lang="en-US" sz="1600" dirty="0"/>
          </a:p>
        </p:txBody>
      </p:sp>
      <p:sp>
        <p:nvSpPr>
          <p:cNvPr id="5" name="Řešení 1"/>
          <p:cNvSpPr txBox="1"/>
          <p:nvPr/>
        </p:nvSpPr>
        <p:spPr>
          <a:xfrm>
            <a:off x="457200" y="1892808"/>
            <a:ext cx="4023360" cy="548640"/>
          </a:xfrm>
          <a:prstGeom prst="rect">
            <a:avLst/>
          </a:prstGeom>
          <a:noFill/>
          <a:ln/>
        </p:spPr>
        <p:txBody>
          <a:bodyPr wrap="square" lIns="0" tIns="0" rIns="0" bIns="0" rtlCol="0" anchor="t"/>
          <a:lstStyle/>
          <a:p>
            <a:pPr indent="0" marL="0">
              <a:buNone/>
            </a:pPr>
            <a:r>
              <a:rPr lang="en-US" sz="1400" dirty="0">
                <a:solidFill>
                  <a:schemeClr val="accent5"/>
                </a:solidFill>
              </a:rPr>
              <a:t>Dokumentace zabere víc, než čekám, proto nepřidávám nové funkce.</a:t>
            </a:r>
            <a:endParaRPr lang="en-US" sz="1400" dirty="0"/>
          </a:p>
        </p:txBody>
      </p:sp>
      <p:sp>
        <p:nvSpPr>
          <p:cNvPr id="6" name="Riziko 2"/>
          <p:cNvSpPr txBox="1"/>
          <p:nvPr/>
        </p:nvSpPr>
        <p:spPr>
          <a:xfrm>
            <a:off x="457200" y="2560320"/>
            <a:ext cx="4023360" cy="274320"/>
          </a:xfrm>
          <a:prstGeom prst="rect">
            <a:avLst/>
          </a:prstGeom>
          <a:noFill/>
          <a:ln/>
        </p:spPr>
        <p:txBody>
          <a:bodyPr wrap="square" lIns="0" tIns="0" rIns="0" bIns="0" rtlCol="0" anchor="ctr"/>
          <a:lstStyle/>
          <a:p>
            <a:pPr indent="0" marL="0">
              <a:buNone/>
            </a:pPr>
            <a:r>
              <a:rPr lang="en-US" sz="1600" b="1" dirty="0">
                <a:solidFill>
                  <a:schemeClr val="tx1"/>
                </a:solidFill>
              </a:rPr>
              <a:t>Výkon</a:t>
            </a:r>
            <a:endParaRPr lang="en-US" sz="1600" dirty="0"/>
          </a:p>
        </p:txBody>
      </p:sp>
      <p:sp>
        <p:nvSpPr>
          <p:cNvPr id="7" name="Řešení 2"/>
          <p:cNvSpPr txBox="1"/>
          <p:nvPr/>
        </p:nvSpPr>
        <p:spPr>
          <a:xfrm>
            <a:off x="457200" y="2852928"/>
            <a:ext cx="4023360" cy="548640"/>
          </a:xfrm>
          <a:prstGeom prst="rect">
            <a:avLst/>
          </a:prstGeom>
          <a:noFill/>
          <a:ln/>
        </p:spPr>
        <p:txBody>
          <a:bodyPr wrap="square" lIns="0" tIns="0" rIns="0" bIns="0" rtlCol="0" anchor="t"/>
          <a:lstStyle/>
          <a:p>
            <a:pPr indent="0" marL="0">
              <a:buNone/>
            </a:pPr>
            <a:r>
              <a:rPr lang="en-US" sz="1400" dirty="0">
                <a:solidFill>
                  <a:schemeClr val="accent5"/>
                </a:solidFill>
              </a:rPr>
              <a:t>Na slabších počítačích. Už jsem na tom pracoval.</a:t>
            </a:r>
            <a:endParaRPr lang="en-US" sz="1400" dirty="0"/>
          </a:p>
        </p:txBody>
      </p:sp>
      <p:sp>
        <p:nvSpPr>
          <p:cNvPr id="8" name="Riziko 3"/>
          <p:cNvSpPr txBox="1"/>
          <p:nvPr/>
        </p:nvSpPr>
        <p:spPr>
          <a:xfrm>
            <a:off x="457200" y="3520440"/>
            <a:ext cx="4023360" cy="274320"/>
          </a:xfrm>
          <a:prstGeom prst="rect">
            <a:avLst/>
          </a:prstGeom>
          <a:noFill/>
          <a:ln/>
        </p:spPr>
        <p:txBody>
          <a:bodyPr wrap="square" lIns="0" tIns="0" rIns="0" bIns="0" rtlCol="0" anchor="ctr"/>
          <a:lstStyle/>
          <a:p>
            <a:pPr indent="0" marL="0">
              <a:buNone/>
            </a:pPr>
            <a:r>
              <a:rPr lang="en-US" sz="1600" b="1" dirty="0">
                <a:solidFill>
                  <a:schemeClr val="tx1"/>
                </a:solidFill>
              </a:rPr>
              <a:t>Autorská práva</a:t>
            </a:r>
            <a:endParaRPr lang="en-US" sz="1600" dirty="0"/>
          </a:p>
        </p:txBody>
      </p:sp>
      <p:sp>
        <p:nvSpPr>
          <p:cNvPr id="9" name="Řešení 3"/>
          <p:cNvSpPr txBox="1"/>
          <p:nvPr/>
        </p:nvSpPr>
        <p:spPr>
          <a:xfrm>
            <a:off x="457200" y="3813048"/>
            <a:ext cx="4023360" cy="548640"/>
          </a:xfrm>
          <a:prstGeom prst="rect">
            <a:avLst/>
          </a:prstGeom>
          <a:noFill/>
          <a:ln/>
        </p:spPr>
        <p:txBody>
          <a:bodyPr wrap="square" lIns="0" tIns="0" rIns="0" bIns="0" rtlCol="0" anchor="t"/>
          <a:lstStyle/>
          <a:p>
            <a:pPr indent="0" marL="0">
              <a:buNone/>
            </a:pPr>
            <a:r>
              <a:rPr lang="en-US" sz="1400" dirty="0">
                <a:solidFill>
                  <a:schemeClr val="accent5"/>
                </a:solidFill>
              </a:rPr>
              <a:t>Modely a postavy jsou CC0, problém nevidím.</a:t>
            </a:r>
            <a:endParaRPr lang="en-US" sz="1400" dirty="0"/>
          </a:p>
        </p:txBody>
      </p:sp>
      <p:sp>
        <p:nvSpPr>
          <p:cNvPr id="10" name="Karta licence"/>
          <p:cNvSpPr/>
          <p:nvPr/>
        </p:nvSpPr>
        <p:spPr>
          <a:xfrm>
            <a:off x="4937760" y="1143000"/>
            <a:ext cx="3749040" cy="3291840"/>
          </a:xfrm>
          <a:prstGeom prst="roundRect">
            <a:avLst>
              <a:gd name="adj" fmla="val 3333"/>
            </a:avLst>
          </a:prstGeom>
          <a:solidFill>
            <a:schemeClr val="bg2"/>
          </a:solidFill>
          <a:ln w="12700">
            <a:solidFill>
              <a:schemeClr val="bg2"/>
            </a:solidFill>
            <a:prstDash val="solid"/>
          </a:ln>
        </p:spPr>
      </p:sp>
      <p:sp>
        <p:nvSpPr>
          <p:cNvPr id="11" name="Nadpis licence"/>
          <p:cNvSpPr txBox="1"/>
          <p:nvPr/>
        </p:nvSpPr>
        <p:spPr>
          <a:xfrm>
            <a:off x="5166360" y="1280160"/>
            <a:ext cx="3291840" cy="365760"/>
          </a:xfrm>
          <a:prstGeom prst="rect">
            <a:avLst/>
          </a:prstGeom>
          <a:noFill/>
          <a:ln/>
        </p:spPr>
        <p:txBody>
          <a:bodyPr wrap="square" lIns="0" tIns="0" rIns="0" bIns="0" rtlCol="0" anchor="ctr"/>
          <a:lstStyle/>
          <a:p>
            <a:pPr indent="0" marL="0">
              <a:buNone/>
            </a:pPr>
            <a:r>
              <a:rPr lang="en-US" sz="1800" b="1" dirty="0">
                <a:solidFill>
                  <a:schemeClr val="accent2"/>
                </a:solidFill>
              </a:rPr>
              <a:t>Licence a právo</a:t>
            </a:r>
            <a:endParaRPr lang="en-US" sz="1800" dirty="0"/>
          </a:p>
        </p:txBody>
      </p:sp>
      <p:sp>
        <p:nvSpPr>
          <p:cNvPr id="12" name="Seznam licencí"/>
          <p:cNvSpPr txBox="1"/>
          <p:nvPr/>
        </p:nvSpPr>
        <p:spPr>
          <a:xfrm>
            <a:off x="5166360" y="1783080"/>
            <a:ext cx="3291840" cy="2560320"/>
          </a:xfrm>
          <a:prstGeom prst="rect">
            <a:avLst/>
          </a:prstGeom>
          <a:noFill/>
          <a:ln/>
        </p:spPr>
        <p:txBody>
          <a:bodyPr wrap="square" lIns="0" tIns="0" rIns="0" bIns="0" rtlCol="0" anchor="t"/>
          <a:lstStyle/>
          <a:p>
            <a:pPr indent="0" marL="0">
              <a:spcAft>
                <a:spcPts val="800"/>
              </a:spcAft>
              <a:buNone/>
            </a:pPr>
            <a:r>
              <a:rPr lang="en-US" sz="1400" b="1" dirty="0">
                <a:solidFill>
                  <a:schemeClr val="tx1"/>
                </a:solidFill>
              </a:rPr>
              <a:t>Modely a postavy: </a:t>
            </a:r>
            <a:pPr indent="0" marL="0">
              <a:spcAft>
                <a:spcPts val="800"/>
              </a:spcAft>
              <a:buNone/>
            </a:pPr>
            <a:r>
              <a:rPr lang="en-US" sz="1400" dirty="0">
                <a:solidFill>
                  <a:schemeClr val="tx1"/>
                </a:solidFill>
              </a:rPr>
              <a:t>CC0, Kenney a Quaternius</a:t>
            </a:r>
            <a:endParaRPr lang="en-US" sz="1400" dirty="0"/>
          </a:p>
          <a:p>
            <a:pPr indent="0" marL="0">
              <a:spcAft>
                <a:spcPts val="800"/>
              </a:spcAft>
              <a:buNone/>
            </a:pPr>
            <a:r>
              <a:rPr lang="en-US" sz="1400" b="1" dirty="0">
                <a:solidFill>
                  <a:schemeClr val="tx1"/>
                </a:solidFill>
              </a:rPr>
              <a:t>Kód: </a:t>
            </a:r>
            <a:pPr indent="0" marL="0">
              <a:spcAft>
                <a:spcPts val="800"/>
              </a:spcAft>
              <a:buNone/>
            </a:pPr>
            <a:r>
              <a:rPr lang="en-US" sz="1400" dirty="0">
                <a:solidFill>
                  <a:schemeClr val="tx1"/>
                </a:solidFill>
              </a:rPr>
              <a:t>licence MIT (výběr dořeším)</a:t>
            </a:r>
            <a:endParaRPr lang="en-US" sz="1400" dirty="0"/>
          </a:p>
          <a:p>
            <a:pPr indent="0" marL="0">
              <a:spcAft>
                <a:spcPts val="800"/>
              </a:spcAft>
              <a:buNone/>
            </a:pPr>
            <a:r>
              <a:rPr lang="en-US" sz="1400" b="1" dirty="0">
                <a:solidFill>
                  <a:schemeClr val="tx1"/>
                </a:solidFill>
              </a:rPr>
              <a:t>Technologie: </a:t>
            </a:r>
            <a:pPr indent="0" marL="0">
              <a:spcAft>
                <a:spcPts val="800"/>
              </a:spcAft>
              <a:buNone/>
            </a:pPr>
            <a:r>
              <a:rPr lang="en-US" sz="1400" dirty="0">
                <a:solidFill>
                  <a:schemeClr val="tx1"/>
                </a:solidFill>
              </a:rPr>
              <a:t>Unity a C#, které znám</a:t>
            </a:r>
            <a:endParaRPr lang="en-US" sz="1400" dirty="0"/>
          </a:p>
          <a:p>
            <a:pPr indent="0" marL="0">
              <a:spcAft>
                <a:spcPts val="800"/>
              </a:spcAft>
              <a:buNone/>
            </a:pPr>
            <a:r>
              <a:rPr lang="en-US" sz="1400" b="1" dirty="0">
                <a:solidFill>
                  <a:schemeClr val="tx1"/>
                </a:solidFill>
              </a:rPr>
              <a:t>Server a cizí služby: </a:t>
            </a:r>
            <a:pPr indent="0" marL="0">
              <a:spcAft>
                <a:spcPts val="800"/>
              </a:spcAft>
              <a:buNone/>
            </a:pPr>
            <a:r>
              <a:rPr lang="en-US" sz="1400" dirty="0">
                <a:solidFill>
                  <a:schemeClr val="tx1"/>
                </a:solidFill>
              </a:rPr>
              <a:t>žádné, hra je offline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Business a plán do dubna</a:t>
            </a:r>
            <a:endParaRPr lang="en-US" sz="3400" dirty="0"/>
          </a:p>
        </p:txBody>
      </p:sp>
      <p:sp>
        <p:nvSpPr>
          <p:cNvPr id="3" name="Karta Zdarma"/>
          <p:cNvSpPr/>
          <p:nvPr/>
        </p:nvSpPr>
        <p:spPr>
          <a:xfrm>
            <a:off x="457200" y="1097280"/>
            <a:ext cx="2615184" cy="1005840"/>
          </a:xfrm>
          <a:prstGeom prst="roundRect">
            <a:avLst>
              <a:gd name="adj" fmla="val 10909"/>
            </a:avLst>
          </a:prstGeom>
          <a:solidFill>
            <a:schemeClr val="bg2"/>
          </a:solidFill>
          <a:ln w="12700">
            <a:solidFill>
              <a:schemeClr val="bg2"/>
            </a:solidFill>
            <a:prstDash val="solid"/>
          </a:ln>
        </p:spPr>
      </p:sp>
      <p:sp>
        <p:nvSpPr>
          <p:cNvPr id="4" name="Text Zdarma"/>
          <p:cNvSpPr txBox="1"/>
          <p:nvPr/>
        </p:nvSpPr>
        <p:spPr>
          <a:xfrm>
            <a:off x="640080" y="1143000"/>
            <a:ext cx="2286000" cy="914400"/>
          </a:xfrm>
          <a:prstGeom prst="rect">
            <a:avLst/>
          </a:prstGeom>
          <a:noFill/>
          <a:ln/>
        </p:spPr>
        <p:txBody>
          <a:bodyPr wrap="square" lIns="0" tIns="0" rIns="0" bIns="0" rtlCol="0" anchor="ctr"/>
          <a:lstStyle/>
          <a:p>
            <a:pPr indent="0" marL="0">
              <a:buNone/>
            </a:pPr>
            <a:r>
              <a:rPr lang="en-US" sz="1600" b="1" dirty="0">
                <a:solidFill>
                  <a:schemeClr val="accent2"/>
                </a:solidFill>
              </a:rPr>
              <a:t>Zdarma</a:t>
            </a:r>
            <a:endParaRPr lang="en-US" sz="1600" dirty="0"/>
          </a:p>
          <a:p>
            <a:pPr indent="0" marL="0">
              <a:buNone/>
            </a:pPr>
            <a:r>
              <a:rPr lang="en-US" sz="1400" dirty="0">
                <a:solidFill>
                  <a:schemeClr val="tx1"/>
                </a:solidFill>
              </a:rPr>
              <a:t>případně itch.io jako portfolio</a:t>
            </a:r>
            <a:endParaRPr lang="en-US" sz="1600" dirty="0"/>
          </a:p>
        </p:txBody>
      </p:sp>
      <p:sp>
        <p:nvSpPr>
          <p:cNvPr id="5" name="Karta Komunita"/>
          <p:cNvSpPr/>
          <p:nvPr/>
        </p:nvSpPr>
        <p:spPr>
          <a:xfrm>
            <a:off x="3264408" y="1097280"/>
            <a:ext cx="2615184" cy="1005840"/>
          </a:xfrm>
          <a:prstGeom prst="roundRect">
            <a:avLst>
              <a:gd name="adj" fmla="val 10909"/>
            </a:avLst>
          </a:prstGeom>
          <a:solidFill>
            <a:schemeClr val="bg2"/>
          </a:solidFill>
          <a:ln w="12700">
            <a:solidFill>
              <a:schemeClr val="bg2"/>
            </a:solidFill>
            <a:prstDash val="solid"/>
          </a:ln>
        </p:spPr>
      </p:sp>
      <p:sp>
        <p:nvSpPr>
          <p:cNvPr id="6" name="Text Komunita"/>
          <p:cNvSpPr txBox="1"/>
          <p:nvPr/>
        </p:nvSpPr>
        <p:spPr>
          <a:xfrm>
            <a:off x="3447288" y="1143000"/>
            <a:ext cx="2286000" cy="914400"/>
          </a:xfrm>
          <a:prstGeom prst="rect">
            <a:avLst/>
          </a:prstGeom>
          <a:noFill/>
          <a:ln/>
        </p:spPr>
        <p:txBody>
          <a:bodyPr wrap="square" lIns="0" tIns="0" rIns="0" bIns="0" rtlCol="0" anchor="ctr"/>
          <a:lstStyle/>
          <a:p>
            <a:pPr indent="0" marL="0">
              <a:buNone/>
            </a:pPr>
            <a:r>
              <a:rPr lang="en-US" sz="1600" b="1" dirty="0">
                <a:solidFill>
                  <a:schemeClr val="accent2"/>
                </a:solidFill>
              </a:rPr>
              <a:t>Komunita</a:t>
            </a:r>
            <a:endParaRPr lang="en-US" sz="1600" dirty="0"/>
          </a:p>
          <a:p>
            <a:pPr indent="0" marL="0">
              <a:buNone/>
            </a:pPr>
            <a:r>
              <a:rPr lang="en-US" sz="1400" dirty="0">
                <a:solidFill>
                  <a:schemeClr val="tx1"/>
                </a:solidFill>
              </a:rPr>
              <a:t>videa, sdílení ostrovů</a:t>
            </a:r>
            <a:endParaRPr lang="en-US" sz="1600" dirty="0"/>
          </a:p>
        </p:txBody>
      </p:sp>
      <p:sp>
        <p:nvSpPr>
          <p:cNvPr id="7" name="Karta Open-source"/>
          <p:cNvSpPr/>
          <p:nvPr/>
        </p:nvSpPr>
        <p:spPr>
          <a:xfrm>
            <a:off x="6071616" y="1097280"/>
            <a:ext cx="2615184" cy="1005840"/>
          </a:xfrm>
          <a:prstGeom prst="roundRect">
            <a:avLst>
              <a:gd name="adj" fmla="val 10909"/>
            </a:avLst>
          </a:prstGeom>
          <a:solidFill>
            <a:schemeClr val="bg2"/>
          </a:solidFill>
          <a:ln w="12700">
            <a:solidFill>
              <a:schemeClr val="bg2"/>
            </a:solidFill>
            <a:prstDash val="solid"/>
          </a:ln>
        </p:spPr>
      </p:sp>
      <p:sp>
        <p:nvSpPr>
          <p:cNvPr id="8" name="Text Open-source"/>
          <p:cNvSpPr txBox="1"/>
          <p:nvPr/>
        </p:nvSpPr>
        <p:spPr>
          <a:xfrm>
            <a:off x="6254496" y="1143000"/>
            <a:ext cx="2286000" cy="914400"/>
          </a:xfrm>
          <a:prstGeom prst="rect">
            <a:avLst/>
          </a:prstGeom>
          <a:noFill/>
          <a:ln/>
        </p:spPr>
        <p:txBody>
          <a:bodyPr wrap="square" lIns="0" tIns="0" rIns="0" bIns="0" rtlCol="0" anchor="ctr"/>
          <a:lstStyle/>
          <a:p>
            <a:pPr indent="0" marL="0">
              <a:buNone/>
            </a:pPr>
            <a:r>
              <a:rPr lang="en-US" sz="1600" b="1" dirty="0">
                <a:solidFill>
                  <a:schemeClr val="accent2"/>
                </a:solidFill>
              </a:rPr>
              <a:t>Open-source</a:t>
            </a:r>
            <a:endParaRPr lang="en-US" sz="1600" dirty="0"/>
          </a:p>
          <a:p>
            <a:pPr indent="0" marL="0">
              <a:buNone/>
            </a:pPr>
            <a:r>
              <a:rPr lang="en-US" sz="1400" dirty="0">
                <a:solidFill>
                  <a:schemeClr val="tx1"/>
                </a:solidFill>
              </a:rPr>
              <a:t>kód pod MIT, grafika CC0</a:t>
            </a:r>
            <a:endParaRPr lang="en-US" sz="1600" dirty="0"/>
          </a:p>
        </p:txBody>
      </p:sp>
      <p:sp>
        <p:nvSpPr>
          <p:cNvPr id="9" name="Osa"/>
          <p:cNvSpPr/>
          <p:nvPr/>
        </p:nvSpPr>
        <p:spPr>
          <a:xfrm>
            <a:off x="1005840" y="3200400"/>
            <a:ext cx="7132320" cy="0"/>
          </a:xfrm>
          <a:prstGeom prst="line">
            <a:avLst/>
          </a:prstGeom>
          <a:noFill/>
          <a:ln w="25400">
            <a:solidFill>
              <a:schemeClr val="accent5"/>
            </a:solidFill>
            <a:prstDash val="solid"/>
          </a:ln>
        </p:spPr>
      </p:sp>
      <p:sp>
        <p:nvSpPr>
          <p:cNvPr id="10" name="Milník 1"/>
          <p:cNvSpPr/>
          <p:nvPr/>
        </p:nvSpPr>
        <p:spPr>
          <a:xfrm>
            <a:off x="850392" y="3044952"/>
            <a:ext cx="310896" cy="310896"/>
          </a:xfrm>
          <a:prstGeom prst="ellipse">
            <a:avLst/>
          </a:prstGeom>
          <a:solidFill>
            <a:schemeClr val="accent2"/>
          </a:solidFill>
          <a:ln w="25400">
            <a:solidFill>
              <a:schemeClr val="bg1"/>
            </a:solidFill>
            <a:prstDash val="solid"/>
          </a:ln>
        </p:spPr>
      </p:sp>
      <p:sp>
        <p:nvSpPr>
          <p:cNvPr id="11" name="Datum 1"/>
          <p:cNvSpPr txBox="1"/>
          <p:nvPr/>
        </p:nvSpPr>
        <p:spPr>
          <a:xfrm>
            <a:off x="365760" y="2743200"/>
            <a:ext cx="1280160" cy="274320"/>
          </a:xfrm>
          <a:prstGeom prst="rect">
            <a:avLst/>
          </a:prstGeom>
          <a:noFill/>
          <a:ln/>
        </p:spPr>
        <p:txBody>
          <a:bodyPr wrap="square" lIns="0" tIns="0" rIns="0" bIns="0" rtlCol="0" anchor="ctr"/>
          <a:lstStyle/>
          <a:p>
            <a:pPr algn="ctr" indent="0" marL="0">
              <a:buNone/>
            </a:pPr>
            <a:r>
              <a:rPr lang="en-US" sz="1400" b="1" dirty="0">
                <a:solidFill>
                  <a:schemeClr val="tx1"/>
                </a:solidFill>
              </a:rPr>
              <a:t>11. 11.</a:t>
            </a:r>
            <a:endParaRPr lang="en-US" sz="1400" dirty="0"/>
          </a:p>
        </p:txBody>
      </p:sp>
      <p:sp>
        <p:nvSpPr>
          <p:cNvPr id="12" name="Název 1"/>
          <p:cNvSpPr txBox="1"/>
          <p:nvPr/>
        </p:nvSpPr>
        <p:spPr>
          <a:xfrm>
            <a:off x="365760" y="3401568"/>
            <a:ext cx="1280160" cy="274320"/>
          </a:xfrm>
          <a:prstGeom prst="rect">
            <a:avLst/>
          </a:prstGeom>
          <a:noFill/>
          <a:ln/>
        </p:spPr>
        <p:txBody>
          <a:bodyPr wrap="square" lIns="0" tIns="0" rIns="0" bIns="0" rtlCol="0" anchor="ctr"/>
          <a:lstStyle/>
          <a:p>
            <a:pPr algn="ctr" indent="0" marL="0">
              <a:buNone/>
            </a:pPr>
            <a:r>
              <a:rPr lang="en-US" sz="1400" dirty="0">
                <a:solidFill>
                  <a:schemeClr val="accent5"/>
                </a:solidFill>
              </a:rPr>
              <a:t>Charter</a:t>
            </a:r>
            <a:endParaRPr lang="en-US" sz="1400" dirty="0"/>
          </a:p>
        </p:txBody>
      </p:sp>
      <p:sp>
        <p:nvSpPr>
          <p:cNvPr id="13" name="Milník 2"/>
          <p:cNvSpPr/>
          <p:nvPr/>
        </p:nvSpPr>
        <p:spPr>
          <a:xfrm>
            <a:off x="2276856" y="3044952"/>
            <a:ext cx="310896" cy="310896"/>
          </a:xfrm>
          <a:prstGeom prst="ellipse">
            <a:avLst/>
          </a:prstGeom>
          <a:solidFill>
            <a:schemeClr val="accent2"/>
          </a:solidFill>
          <a:ln w="25400">
            <a:solidFill>
              <a:schemeClr val="bg1"/>
            </a:solidFill>
            <a:prstDash val="solid"/>
          </a:ln>
        </p:spPr>
      </p:sp>
      <p:sp>
        <p:nvSpPr>
          <p:cNvPr id="14" name="Datum 2"/>
          <p:cNvSpPr txBox="1"/>
          <p:nvPr/>
        </p:nvSpPr>
        <p:spPr>
          <a:xfrm>
            <a:off x="1792224" y="2743200"/>
            <a:ext cx="1280160" cy="274320"/>
          </a:xfrm>
          <a:prstGeom prst="rect">
            <a:avLst/>
          </a:prstGeom>
          <a:noFill/>
          <a:ln/>
        </p:spPr>
        <p:txBody>
          <a:bodyPr wrap="square" lIns="0" tIns="0" rIns="0" bIns="0" rtlCol="0" anchor="ctr"/>
          <a:lstStyle/>
          <a:p>
            <a:pPr algn="ctr" indent="0" marL="0">
              <a:buNone/>
            </a:pPr>
            <a:r>
              <a:rPr lang="en-US" sz="1400" b="1" dirty="0">
                <a:solidFill>
                  <a:schemeClr val="tx1"/>
                </a:solidFill>
              </a:rPr>
              <a:t>9. 12.</a:t>
            </a:r>
            <a:endParaRPr lang="en-US" sz="1400" dirty="0"/>
          </a:p>
        </p:txBody>
      </p:sp>
      <p:sp>
        <p:nvSpPr>
          <p:cNvPr id="15" name="Název 2"/>
          <p:cNvSpPr txBox="1"/>
          <p:nvPr/>
        </p:nvSpPr>
        <p:spPr>
          <a:xfrm>
            <a:off x="1792224" y="3401568"/>
            <a:ext cx="1280160" cy="274320"/>
          </a:xfrm>
          <a:prstGeom prst="rect">
            <a:avLst/>
          </a:prstGeom>
          <a:noFill/>
          <a:ln/>
        </p:spPr>
        <p:txBody>
          <a:bodyPr wrap="square" lIns="0" tIns="0" rIns="0" bIns="0" rtlCol="0" anchor="ctr"/>
          <a:lstStyle/>
          <a:p>
            <a:pPr algn="ctr" indent="0" marL="0">
              <a:buNone/>
            </a:pPr>
            <a:r>
              <a:rPr lang="en-US" sz="1400" dirty="0">
                <a:solidFill>
                  <a:schemeClr val="accent5"/>
                </a:solidFill>
              </a:rPr>
              <a:t>Osnova</a:t>
            </a:r>
            <a:endParaRPr lang="en-US" sz="1400" dirty="0"/>
          </a:p>
        </p:txBody>
      </p:sp>
      <p:sp>
        <p:nvSpPr>
          <p:cNvPr id="16" name="Milník 3"/>
          <p:cNvSpPr/>
          <p:nvPr/>
        </p:nvSpPr>
        <p:spPr>
          <a:xfrm>
            <a:off x="3703320" y="3044952"/>
            <a:ext cx="310896" cy="310896"/>
          </a:xfrm>
          <a:prstGeom prst="ellipse">
            <a:avLst/>
          </a:prstGeom>
          <a:solidFill>
            <a:schemeClr val="accent2"/>
          </a:solidFill>
          <a:ln w="25400">
            <a:solidFill>
              <a:schemeClr val="bg1"/>
            </a:solidFill>
            <a:prstDash val="solid"/>
          </a:ln>
        </p:spPr>
      </p:sp>
      <p:sp>
        <p:nvSpPr>
          <p:cNvPr id="17" name="Datum 3"/>
          <p:cNvSpPr txBox="1"/>
          <p:nvPr/>
        </p:nvSpPr>
        <p:spPr>
          <a:xfrm>
            <a:off x="3218688" y="2743200"/>
            <a:ext cx="1280160" cy="274320"/>
          </a:xfrm>
          <a:prstGeom prst="rect">
            <a:avLst/>
          </a:prstGeom>
          <a:noFill/>
          <a:ln/>
        </p:spPr>
        <p:txBody>
          <a:bodyPr wrap="square" lIns="0" tIns="0" rIns="0" bIns="0" rtlCol="0" anchor="ctr"/>
          <a:lstStyle/>
          <a:p>
            <a:pPr algn="ctr" indent="0" marL="0">
              <a:buNone/>
            </a:pPr>
            <a:r>
              <a:rPr lang="en-US" sz="1400" b="1" dirty="0">
                <a:solidFill>
                  <a:schemeClr val="tx1"/>
                </a:solidFill>
              </a:rPr>
              <a:t>20. 1.</a:t>
            </a:r>
            <a:endParaRPr lang="en-US" sz="1400" dirty="0"/>
          </a:p>
        </p:txBody>
      </p:sp>
      <p:sp>
        <p:nvSpPr>
          <p:cNvPr id="18" name="Název 3"/>
          <p:cNvSpPr txBox="1"/>
          <p:nvPr/>
        </p:nvSpPr>
        <p:spPr>
          <a:xfrm>
            <a:off x="3218688" y="3401568"/>
            <a:ext cx="1280160" cy="274320"/>
          </a:xfrm>
          <a:prstGeom prst="rect">
            <a:avLst/>
          </a:prstGeom>
          <a:noFill/>
          <a:ln/>
        </p:spPr>
        <p:txBody>
          <a:bodyPr wrap="square" lIns="0" tIns="0" rIns="0" bIns="0" rtlCol="0" anchor="ctr"/>
          <a:lstStyle/>
          <a:p>
            <a:pPr algn="ctr" indent="0" marL="0">
              <a:buNone/>
            </a:pPr>
            <a:r>
              <a:rPr lang="en-US" sz="1400" dirty="0">
                <a:solidFill>
                  <a:schemeClr val="accent5"/>
                </a:solidFill>
              </a:rPr>
              <a:t>Návrh</a:t>
            </a:r>
            <a:endParaRPr lang="en-US" sz="1400" dirty="0"/>
          </a:p>
        </p:txBody>
      </p:sp>
      <p:sp>
        <p:nvSpPr>
          <p:cNvPr id="19" name="Milník 4"/>
          <p:cNvSpPr/>
          <p:nvPr/>
        </p:nvSpPr>
        <p:spPr>
          <a:xfrm>
            <a:off x="5129784" y="3044952"/>
            <a:ext cx="310896" cy="310896"/>
          </a:xfrm>
          <a:prstGeom prst="ellipse">
            <a:avLst/>
          </a:prstGeom>
          <a:solidFill>
            <a:schemeClr val="accent2"/>
          </a:solidFill>
          <a:ln w="25400">
            <a:solidFill>
              <a:schemeClr val="bg1"/>
            </a:solidFill>
            <a:prstDash val="solid"/>
          </a:ln>
        </p:spPr>
      </p:sp>
      <p:sp>
        <p:nvSpPr>
          <p:cNvPr id="20" name="Datum 4"/>
          <p:cNvSpPr txBox="1"/>
          <p:nvPr/>
        </p:nvSpPr>
        <p:spPr>
          <a:xfrm>
            <a:off x="4645152" y="2743200"/>
            <a:ext cx="1280160" cy="274320"/>
          </a:xfrm>
          <a:prstGeom prst="rect">
            <a:avLst/>
          </a:prstGeom>
          <a:noFill/>
          <a:ln/>
        </p:spPr>
        <p:txBody>
          <a:bodyPr wrap="square" lIns="0" tIns="0" rIns="0" bIns="0" rtlCol="0" anchor="ctr"/>
          <a:lstStyle/>
          <a:p>
            <a:pPr algn="ctr" indent="0" marL="0">
              <a:buNone/>
            </a:pPr>
            <a:r>
              <a:rPr lang="en-US" sz="1400" b="1" dirty="0">
                <a:solidFill>
                  <a:schemeClr val="tx1"/>
                </a:solidFill>
              </a:rPr>
              <a:t>3. 3.</a:t>
            </a:r>
            <a:endParaRPr lang="en-US" sz="1400" dirty="0"/>
          </a:p>
        </p:txBody>
      </p:sp>
      <p:sp>
        <p:nvSpPr>
          <p:cNvPr id="21" name="Název 4"/>
          <p:cNvSpPr txBox="1"/>
          <p:nvPr/>
        </p:nvSpPr>
        <p:spPr>
          <a:xfrm>
            <a:off x="4645152" y="3401568"/>
            <a:ext cx="1280160" cy="274320"/>
          </a:xfrm>
          <a:prstGeom prst="rect">
            <a:avLst/>
          </a:prstGeom>
          <a:noFill/>
          <a:ln/>
        </p:spPr>
        <p:txBody>
          <a:bodyPr wrap="square" lIns="0" tIns="0" rIns="0" bIns="0" rtlCol="0" anchor="ctr"/>
          <a:lstStyle/>
          <a:p>
            <a:pPr algn="ctr" indent="0" marL="0">
              <a:buNone/>
            </a:pPr>
            <a:r>
              <a:rPr lang="en-US" sz="1400" dirty="0">
                <a:solidFill>
                  <a:schemeClr val="accent5"/>
                </a:solidFill>
              </a:rPr>
              <a:t>Kód</a:t>
            </a:r>
            <a:endParaRPr lang="en-US" sz="1400" dirty="0"/>
          </a:p>
        </p:txBody>
      </p:sp>
      <p:sp>
        <p:nvSpPr>
          <p:cNvPr id="22" name="Milník 5"/>
          <p:cNvSpPr/>
          <p:nvPr/>
        </p:nvSpPr>
        <p:spPr>
          <a:xfrm>
            <a:off x="6556248" y="3044952"/>
            <a:ext cx="310896" cy="310896"/>
          </a:xfrm>
          <a:prstGeom prst="ellipse">
            <a:avLst/>
          </a:prstGeom>
          <a:solidFill>
            <a:schemeClr val="accent2"/>
          </a:solidFill>
          <a:ln w="25400">
            <a:solidFill>
              <a:schemeClr val="bg1"/>
            </a:solidFill>
            <a:prstDash val="solid"/>
          </a:ln>
        </p:spPr>
      </p:sp>
      <p:sp>
        <p:nvSpPr>
          <p:cNvPr id="23" name="Datum 5"/>
          <p:cNvSpPr txBox="1"/>
          <p:nvPr/>
        </p:nvSpPr>
        <p:spPr>
          <a:xfrm>
            <a:off x="6071616" y="2743200"/>
            <a:ext cx="1280160" cy="274320"/>
          </a:xfrm>
          <a:prstGeom prst="rect">
            <a:avLst/>
          </a:prstGeom>
          <a:noFill/>
          <a:ln/>
        </p:spPr>
        <p:txBody>
          <a:bodyPr wrap="square" lIns="0" tIns="0" rIns="0" bIns="0" rtlCol="0" anchor="ctr"/>
          <a:lstStyle/>
          <a:p>
            <a:pPr algn="ctr" indent="0" marL="0">
              <a:buNone/>
            </a:pPr>
            <a:r>
              <a:rPr lang="en-US" sz="1400" b="1" dirty="0">
                <a:solidFill>
                  <a:schemeClr val="tx1"/>
                </a:solidFill>
              </a:rPr>
              <a:t>31. 3.</a:t>
            </a:r>
            <a:endParaRPr lang="en-US" sz="1400" dirty="0"/>
          </a:p>
        </p:txBody>
      </p:sp>
      <p:sp>
        <p:nvSpPr>
          <p:cNvPr id="24" name="Název 5"/>
          <p:cNvSpPr txBox="1"/>
          <p:nvPr/>
        </p:nvSpPr>
        <p:spPr>
          <a:xfrm>
            <a:off x="6071616" y="3401568"/>
            <a:ext cx="1280160" cy="274320"/>
          </a:xfrm>
          <a:prstGeom prst="rect">
            <a:avLst/>
          </a:prstGeom>
          <a:noFill/>
          <a:ln/>
        </p:spPr>
        <p:txBody>
          <a:bodyPr wrap="square" lIns="0" tIns="0" rIns="0" bIns="0" rtlCol="0" anchor="ctr"/>
          <a:lstStyle/>
          <a:p>
            <a:pPr algn="ctr" indent="0" marL="0">
              <a:buNone/>
            </a:pPr>
            <a:r>
              <a:rPr lang="en-US" sz="1400" dirty="0">
                <a:solidFill>
                  <a:schemeClr val="accent5"/>
                </a:solidFill>
              </a:rPr>
              <a:t>Build</a:t>
            </a:r>
            <a:endParaRPr lang="en-US" sz="1400" dirty="0"/>
          </a:p>
        </p:txBody>
      </p:sp>
      <p:sp>
        <p:nvSpPr>
          <p:cNvPr id="25" name="Milník 6"/>
          <p:cNvSpPr/>
          <p:nvPr/>
        </p:nvSpPr>
        <p:spPr>
          <a:xfrm>
            <a:off x="7982712" y="3044952"/>
            <a:ext cx="310896" cy="310896"/>
          </a:xfrm>
          <a:prstGeom prst="ellipse">
            <a:avLst/>
          </a:prstGeom>
          <a:solidFill>
            <a:schemeClr val="accent1"/>
          </a:solidFill>
          <a:ln w="25400">
            <a:solidFill>
              <a:schemeClr val="bg1"/>
            </a:solidFill>
            <a:prstDash val="solid"/>
          </a:ln>
        </p:spPr>
      </p:sp>
      <p:sp>
        <p:nvSpPr>
          <p:cNvPr id="26" name="Datum 6"/>
          <p:cNvSpPr txBox="1"/>
          <p:nvPr/>
        </p:nvSpPr>
        <p:spPr>
          <a:xfrm>
            <a:off x="7498080" y="2743200"/>
            <a:ext cx="1280160" cy="274320"/>
          </a:xfrm>
          <a:prstGeom prst="rect">
            <a:avLst/>
          </a:prstGeom>
          <a:noFill/>
          <a:ln/>
        </p:spPr>
        <p:txBody>
          <a:bodyPr wrap="square" lIns="0" tIns="0" rIns="0" bIns="0" rtlCol="0" anchor="ctr"/>
          <a:lstStyle/>
          <a:p>
            <a:pPr algn="ctr" indent="0" marL="0">
              <a:buNone/>
            </a:pPr>
            <a:r>
              <a:rPr lang="en-US" sz="1400" b="1" dirty="0">
                <a:solidFill>
                  <a:schemeClr val="tx1"/>
                </a:solidFill>
              </a:rPr>
              <a:t>14. 4.</a:t>
            </a:r>
            <a:endParaRPr lang="en-US" sz="1400" dirty="0"/>
          </a:p>
        </p:txBody>
      </p:sp>
      <p:sp>
        <p:nvSpPr>
          <p:cNvPr id="27" name="Název 6"/>
          <p:cNvSpPr txBox="1"/>
          <p:nvPr/>
        </p:nvSpPr>
        <p:spPr>
          <a:xfrm>
            <a:off x="7498080" y="3401568"/>
            <a:ext cx="1280160" cy="274320"/>
          </a:xfrm>
          <a:prstGeom prst="rect">
            <a:avLst/>
          </a:prstGeom>
          <a:noFill/>
          <a:ln/>
        </p:spPr>
        <p:txBody>
          <a:bodyPr wrap="square" lIns="0" tIns="0" rIns="0" bIns="0" rtlCol="0" anchor="ctr"/>
          <a:lstStyle/>
          <a:p>
            <a:pPr algn="ctr" indent="0" marL="0">
              <a:buNone/>
            </a:pPr>
            <a:r>
              <a:rPr lang="en-US" sz="1400" dirty="0">
                <a:solidFill>
                  <a:schemeClr val="accent5"/>
                </a:solidFill>
              </a:rPr>
              <a:t>Release</a:t>
            </a:r>
            <a:endParaRPr lang="en-US" sz="1400" dirty="0"/>
          </a:p>
        </p:txBody>
      </p:sp>
      <p:sp>
        <p:nvSpPr>
          <p:cNvPr id="28" name="Závěr"/>
          <p:cNvSpPr txBox="1"/>
          <p:nvPr/>
        </p:nvSpPr>
        <p:spPr>
          <a:xfrm>
            <a:off x="457200" y="4114800"/>
            <a:ext cx="822960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Děkuji za pozornost. Dotazy?</a:t>
            </a:r>
            <a:endParaRPr lang="en-US" sz="2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The Last Beacon">
  <a:themeElements>
    <a:clrScheme name="The Last Beacon">
      <a:dk1>
        <a:srgbClr val="0B2A43"/>
      </a:dk1>
      <a:lt1>
        <a:srgbClr val="FFFFFF"/>
      </a:lt1>
      <a:dk2>
        <a:srgbClr val="1C7293"/>
      </a:dk2>
      <a:lt2>
        <a:srgbClr val="EAF2F6"/>
      </a:lt2>
      <a:accent1>
        <a:srgbClr val="F2A93B"/>
      </a:accent1>
      <a:accent2>
        <a:srgbClr val="1C7293"/>
      </a:accent2>
      <a:accent3>
        <a:srgbClr val="2E8B6F"/>
      </a:accent3>
      <a:accent4>
        <a:srgbClr val="C8553D"/>
      </a:accent4>
      <a:accent5>
        <a:srgbClr val="5F7482"/>
      </a:accent5>
      <a:accent6>
        <a:srgbClr val="0B2A43"/>
      </a:accent6>
      <a:hlink>
        <a:srgbClr val="1C7293"/>
      </a:hlink>
      <a:folHlink>
        <a:srgbClr val="5F7482"/>
      </a:folHlink>
    </a:clrScheme>
    <a:fontScheme name="The Last Beac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Last Beacon – čtvrtletní prezentace</dc:title>
  <dc:subject>PptxGenJS Presentation</dc:subject>
  <dc:creator>Martin Štěpánek</dc:creator>
  <cp:lastModifiedBy>Martin Štěpánek</cp:lastModifiedBy>
  <cp:revision>1</cp:revision>
  <dcterms:created xsi:type="dcterms:W3CDTF">2026-10-21T15:31:10Z</dcterms:created>
  <dcterms:modified xsi:type="dcterms:W3CDTF">2026-10-21T15:31:10Z</dcterms:modified>
</cp:coreProperties>
</file>